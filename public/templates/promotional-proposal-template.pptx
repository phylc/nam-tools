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pic>
        <p:nvPicPr>
          <p:cNvPr id="3" name="Image 0" descr="APT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56032"/>
            <a:ext cx="1143000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03920" y="256032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Promotional Proposal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11480" y="647395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Vale Snacks x Westfield Stores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8778240" y="6473952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Fictional editable example data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0" y="109728"/>
            <a:ext cx="12191695" cy="6748272"/>
          </a:xfrm>
          <a:prstGeom prst="rect">
            <a:avLst/>
          </a:prstGeom>
          <a:solidFill>
            <a:srgbClr val="F7FAF9"/>
          </a:solidFill>
          <a:ln w="12700">
            <a:solidFill>
              <a:srgbClr val="F7FAF9"/>
            </a:solidFill>
            <a:prstDash val="solid"/>
          </a:ln>
        </p:spPr>
      </p:sp>
      <p:pic>
        <p:nvPicPr>
          <p:cNvPr id="8" name="Image 1" descr="APT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530352"/>
            <a:ext cx="1353312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94360" y="1234440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Promotional Proposal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566928" y="1627632"/>
            <a:ext cx="5806440" cy="10424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2030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Spring Multibuy Promotional Proposal</a:t>
            </a:r>
            <a:endParaRPr lang="en-US" sz="3300" dirty="0"/>
          </a:p>
        </p:txBody>
      </p:sp>
      <p:sp>
        <p:nvSpPr>
          <p:cNvPr id="11" name="Text 7"/>
          <p:cNvSpPr/>
          <p:nvPr/>
        </p:nvSpPr>
        <p:spPr>
          <a:xfrm>
            <a:off x="603504" y="2816352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Westfield Stores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with editable fictional data for account and commercial planning.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498080" y="1005840"/>
            <a:ext cx="361188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D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818120" y="129844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030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Editable deck starter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7818120" y="178308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these slides as a practical customer-facing first draft. Replace the example data, narrative and actions with your own account plan.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48640" y="5120640"/>
            <a:ext cx="1783080" cy="713232"/>
          </a:xfrm>
          <a:prstGeom prst="roundRect">
            <a:avLst>
              <a:gd name="adj" fmla="val 7692"/>
            </a:avLst>
          </a:prstGeom>
          <a:solidFill>
            <a:srgbClr val="EAF6F3"/>
          </a:solidFill>
          <a:ln w="12700">
            <a:solidFill>
              <a:srgbClr val="CDE4D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76656" y="5257800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7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+42%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676656" y="5522976"/>
            <a:ext cx="1417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uplift</a:t>
            </a:r>
            <a:endParaRPr lang="en-US" sz="750" dirty="0"/>
          </a:p>
        </p:txBody>
      </p:sp>
      <p:sp>
        <p:nvSpPr>
          <p:cNvPr id="18" name="Shape 14"/>
          <p:cNvSpPr/>
          <p:nvPr/>
        </p:nvSpPr>
        <p:spPr>
          <a:xfrm>
            <a:off x="2514600" y="5120640"/>
            <a:ext cx="1783080" cy="713232"/>
          </a:xfrm>
          <a:prstGeom prst="roundRect">
            <a:avLst>
              <a:gd name="adj" fmla="val 7692"/>
            </a:avLst>
          </a:prstGeom>
          <a:solidFill>
            <a:srgbClr val="FFF8E8"/>
          </a:solidFill>
          <a:ln w="12700">
            <a:solidFill>
              <a:srgbClr val="E8DAB6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2642616" y="5257800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94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£186k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2642616" y="5522976"/>
            <a:ext cx="1417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incremental RSV</a:t>
            </a:r>
            <a:endParaRPr lang="en-US" sz="750" dirty="0"/>
          </a:p>
        </p:txBody>
      </p:sp>
      <p:sp>
        <p:nvSpPr>
          <p:cNvPr id="21" name="Shape 17"/>
          <p:cNvSpPr/>
          <p:nvPr/>
        </p:nvSpPr>
        <p:spPr>
          <a:xfrm>
            <a:off x="4480560" y="5120640"/>
            <a:ext cx="1783080" cy="713232"/>
          </a:xfrm>
          <a:prstGeom prst="roundRect">
            <a:avLst>
              <a:gd name="adj" fmla="val 7692"/>
            </a:avLst>
          </a:prstGeom>
          <a:solidFill>
            <a:srgbClr val="EAF6F3"/>
          </a:solidFill>
          <a:ln w="12700">
            <a:solidFill>
              <a:srgbClr val="CDE4D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608576" y="5257800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7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2.7x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4608576" y="5522976"/>
            <a:ext cx="1417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ROI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pic>
        <p:nvPicPr>
          <p:cNvPr id="3" name="Image 0" descr="APT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56032"/>
            <a:ext cx="1143000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03920" y="256032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Promotional Proposal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11480" y="647395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Vale Snacks x Westfield Stores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8778240" y="6473952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Fictional editable example data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502920" y="804672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Proposal summary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30352" y="1371600"/>
            <a:ext cx="7223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Westfield Stores example view using editable commercial data and assumptions.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58368" y="1874520"/>
            <a:ext cx="443484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Headline: Vale Snacks has a credible growth story for Westfield Stores, with practical actions buyers can assess quickly.</a:t>
            </a:r>
            <a:endParaRPr lang="en-US" sz="1050" dirty="0"/>
          </a:p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Evidence: example sales, units, distribution and support assumptions are included for editing.</a:t>
            </a:r>
            <a:endParaRPr lang="en-US" sz="1050" dirty="0"/>
          </a:p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Decision: agree the priority action, owner and next step for this workstream.</a:t>
            </a:r>
            <a:endParaRPr lang="en-US" sz="10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956816"/>
          <a:ext cx="5120640" cy="233172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280160"/>
                <a:gridCol w="1280160"/>
              </a:tblGrid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Target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Status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Net sales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£4.2m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£4.7m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Ahead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Units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2.8m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3.2m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On track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Gross margin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31.7%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33.3%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Watch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Distribution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75%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83%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Opportunity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6080760" y="1956816"/>
            <a:ext cx="5303520" cy="2331720"/>
          </a:xfrm>
          <a:prstGeom prst="rect">
            <a:avLst/>
          </a:prstGeom>
          <a:solidFill>
            <a:srgbClr val="F8FBFA"/>
          </a:solidFill>
          <a:ln w="12700">
            <a:solidFill>
              <a:srgbClr val="D8E2D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35508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chart area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400800" y="2697480"/>
            <a:ext cx="1082040" cy="164592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829800" y="266090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6400800" y="3063240"/>
            <a:ext cx="1767840" cy="164592"/>
          </a:xfrm>
          <a:prstGeom prst="rect">
            <a:avLst/>
          </a:prstGeom>
          <a:solidFill>
            <a:srgbClr val="D8942A"/>
          </a:solidFill>
          <a:ln w="12700">
            <a:solidFill>
              <a:srgbClr val="D8942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829800" y="302666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</a:t>
            </a:r>
            <a:endParaRPr lang="en-US" sz="750" dirty="0"/>
          </a:p>
        </p:txBody>
      </p:sp>
      <p:sp>
        <p:nvSpPr>
          <p:cNvPr id="17" name="Shape 13"/>
          <p:cNvSpPr/>
          <p:nvPr/>
        </p:nvSpPr>
        <p:spPr>
          <a:xfrm>
            <a:off x="6400800" y="3429000"/>
            <a:ext cx="2453640" cy="164592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829800" y="339242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750" dirty="0"/>
          </a:p>
        </p:txBody>
      </p:sp>
      <p:sp>
        <p:nvSpPr>
          <p:cNvPr id="19" name="Shape 15"/>
          <p:cNvSpPr/>
          <p:nvPr/>
        </p:nvSpPr>
        <p:spPr>
          <a:xfrm>
            <a:off x="6400800" y="3794760"/>
            <a:ext cx="3139440" cy="164592"/>
          </a:xfrm>
          <a:prstGeom prst="rect">
            <a:avLst/>
          </a:prstGeom>
          <a:solidFill>
            <a:srgbClr val="D8942A"/>
          </a:solidFill>
          <a:ln w="12700">
            <a:solidFill>
              <a:srgbClr val="D8942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9829800" y="375818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</a:t>
            </a:r>
            <a:endParaRPr lang="en-US" sz="750" dirty="0"/>
          </a:p>
        </p:txBody>
      </p:sp>
      <p:sp>
        <p:nvSpPr>
          <p:cNvPr id="21" name="Shape 17"/>
          <p:cNvSpPr/>
          <p:nvPr/>
        </p:nvSpPr>
        <p:spPr>
          <a:xfrm>
            <a:off x="594360" y="4663440"/>
            <a:ext cx="10789920" cy="1143000"/>
          </a:xfrm>
          <a:prstGeom prst="roundRect">
            <a:avLst>
              <a:gd name="adj" fmla="val 3200"/>
            </a:avLst>
          </a:prstGeom>
          <a:solidFill>
            <a:srgbClr val="EAF6F3"/>
          </a:solidFill>
          <a:ln w="12700">
            <a:solidFill>
              <a:srgbClr val="CDE4D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68680" y="486460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Narrative prompt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868680" y="5212080"/>
            <a:ext cx="9784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 this box with the customer-specific implication for proposal summary. Keep it commercial, concise and linked to the buyer decision.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pic>
        <p:nvPicPr>
          <p:cNvPr id="3" name="Image 0" descr="APT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56032"/>
            <a:ext cx="1143000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03920" y="256032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Promotional Proposal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11480" y="647395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Vale Snacks x Westfield Stores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8778240" y="6473952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Fictional editable example data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502920" y="804672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Promotional mechanic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30352" y="1371600"/>
            <a:ext cx="7223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Westfield Stores example view using editable commercial data and assumptions.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58368" y="1874520"/>
            <a:ext cx="443484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Headline: Vale Snacks has a credible growth story for Westfield Stores, with practical actions buyers can assess quickly.</a:t>
            </a:r>
            <a:endParaRPr lang="en-US" sz="1050" dirty="0"/>
          </a:p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Evidence: example sales, units, distribution and support assumptions are included for editing.</a:t>
            </a:r>
            <a:endParaRPr lang="en-US" sz="1050" dirty="0"/>
          </a:p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Decision: agree the priority action, owner and next step for this workstream.</a:t>
            </a:r>
            <a:endParaRPr lang="en-US" sz="10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956816"/>
          <a:ext cx="5120640" cy="233172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280160"/>
                <a:gridCol w="1280160"/>
              </a:tblGrid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Target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Status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Net sales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£4.3m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£4.8m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Ahead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Units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2.9m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3.2m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On track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Gross margin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31.9%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33.5%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Watch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Distribution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76%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84%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Opportunity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6080760" y="1956816"/>
            <a:ext cx="5303520" cy="2331720"/>
          </a:xfrm>
          <a:prstGeom prst="rect">
            <a:avLst/>
          </a:prstGeom>
          <a:solidFill>
            <a:srgbClr val="F8FBFA"/>
          </a:solidFill>
          <a:ln w="12700">
            <a:solidFill>
              <a:srgbClr val="D8E2D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35508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chart area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400800" y="2697480"/>
            <a:ext cx="1158240" cy="164592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829800" y="266090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6400800" y="3063240"/>
            <a:ext cx="1844040" cy="164592"/>
          </a:xfrm>
          <a:prstGeom prst="rect">
            <a:avLst/>
          </a:prstGeom>
          <a:solidFill>
            <a:srgbClr val="D8942A"/>
          </a:solidFill>
          <a:ln w="12700">
            <a:solidFill>
              <a:srgbClr val="D8942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829800" y="302666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</a:t>
            </a:r>
            <a:endParaRPr lang="en-US" sz="750" dirty="0"/>
          </a:p>
        </p:txBody>
      </p:sp>
      <p:sp>
        <p:nvSpPr>
          <p:cNvPr id="17" name="Shape 13"/>
          <p:cNvSpPr/>
          <p:nvPr/>
        </p:nvSpPr>
        <p:spPr>
          <a:xfrm>
            <a:off x="6400800" y="3429000"/>
            <a:ext cx="2529840" cy="164592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829800" y="339242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750" dirty="0"/>
          </a:p>
        </p:txBody>
      </p:sp>
      <p:sp>
        <p:nvSpPr>
          <p:cNvPr id="19" name="Shape 15"/>
          <p:cNvSpPr/>
          <p:nvPr/>
        </p:nvSpPr>
        <p:spPr>
          <a:xfrm>
            <a:off x="6400800" y="3794760"/>
            <a:ext cx="3215640" cy="164592"/>
          </a:xfrm>
          <a:prstGeom prst="rect">
            <a:avLst/>
          </a:prstGeom>
          <a:solidFill>
            <a:srgbClr val="D8942A"/>
          </a:solidFill>
          <a:ln w="12700">
            <a:solidFill>
              <a:srgbClr val="D8942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9829800" y="375818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</a:t>
            </a:r>
            <a:endParaRPr lang="en-US" sz="750" dirty="0"/>
          </a:p>
        </p:txBody>
      </p:sp>
      <p:sp>
        <p:nvSpPr>
          <p:cNvPr id="21" name="Shape 17"/>
          <p:cNvSpPr/>
          <p:nvPr/>
        </p:nvSpPr>
        <p:spPr>
          <a:xfrm>
            <a:off x="594360" y="4663440"/>
            <a:ext cx="10789920" cy="1143000"/>
          </a:xfrm>
          <a:prstGeom prst="roundRect">
            <a:avLst>
              <a:gd name="adj" fmla="val 3200"/>
            </a:avLst>
          </a:prstGeom>
          <a:solidFill>
            <a:srgbClr val="FFF8E8"/>
          </a:solidFill>
          <a:ln w="12700">
            <a:solidFill>
              <a:srgbClr val="E8DAB6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68680" y="486460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894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Narrative prompt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868680" y="5212080"/>
            <a:ext cx="9784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 this box with the customer-specific implication for promotional mechanic. Keep it commercial, concise and linked to the buyer decision.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pic>
        <p:nvPicPr>
          <p:cNvPr id="3" name="Image 0" descr="APT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56032"/>
            <a:ext cx="1143000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03920" y="256032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Promotional Proposal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11480" y="647395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Vale Snacks x Westfield Stores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8778240" y="6473952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Fictional editable example data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502920" y="804672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Commercial rationale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30352" y="1371600"/>
            <a:ext cx="7223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Westfield Stores example view using editable commercial data and assumptions.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58368" y="1874520"/>
            <a:ext cx="443484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Headline: Vale Snacks has a credible growth story for Westfield Stores, with practical actions buyers can assess quickly.</a:t>
            </a:r>
            <a:endParaRPr lang="en-US" sz="1050" dirty="0"/>
          </a:p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Evidence: example sales, units, distribution and support assumptions are included for editing.</a:t>
            </a:r>
            <a:endParaRPr lang="en-US" sz="1050" dirty="0"/>
          </a:p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Decision: agree the priority action, owner and next step for this workstream.</a:t>
            </a:r>
            <a:endParaRPr lang="en-US" sz="10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956816"/>
          <a:ext cx="5120640" cy="233172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280160"/>
                <a:gridCol w="1280160"/>
              </a:tblGrid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Target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Status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Net sales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£4.4m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£4.9m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Ahead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Units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2.9m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3.3m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On track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Gross margin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32.1%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33.8%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Watch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Distribution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77%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85%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Opportunity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6080760" y="1956816"/>
            <a:ext cx="5303520" cy="2331720"/>
          </a:xfrm>
          <a:prstGeom prst="rect">
            <a:avLst/>
          </a:prstGeom>
          <a:solidFill>
            <a:srgbClr val="F8FBFA"/>
          </a:solidFill>
          <a:ln w="12700">
            <a:solidFill>
              <a:srgbClr val="D8E2D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35508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chart area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400800" y="2697480"/>
            <a:ext cx="1234440" cy="164592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829800" y="266090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6400800" y="3063240"/>
            <a:ext cx="1920240" cy="164592"/>
          </a:xfrm>
          <a:prstGeom prst="rect">
            <a:avLst/>
          </a:prstGeom>
          <a:solidFill>
            <a:srgbClr val="D8942A"/>
          </a:solidFill>
          <a:ln w="12700">
            <a:solidFill>
              <a:srgbClr val="D8942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829800" y="302666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</a:t>
            </a:r>
            <a:endParaRPr lang="en-US" sz="750" dirty="0"/>
          </a:p>
        </p:txBody>
      </p:sp>
      <p:sp>
        <p:nvSpPr>
          <p:cNvPr id="17" name="Shape 13"/>
          <p:cNvSpPr/>
          <p:nvPr/>
        </p:nvSpPr>
        <p:spPr>
          <a:xfrm>
            <a:off x="6400800" y="3429000"/>
            <a:ext cx="2606040" cy="164592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829800" y="339242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750" dirty="0"/>
          </a:p>
        </p:txBody>
      </p:sp>
      <p:sp>
        <p:nvSpPr>
          <p:cNvPr id="19" name="Shape 15"/>
          <p:cNvSpPr/>
          <p:nvPr/>
        </p:nvSpPr>
        <p:spPr>
          <a:xfrm>
            <a:off x="6400800" y="3794760"/>
            <a:ext cx="3291840" cy="164592"/>
          </a:xfrm>
          <a:prstGeom prst="rect">
            <a:avLst/>
          </a:prstGeom>
          <a:solidFill>
            <a:srgbClr val="D8942A"/>
          </a:solidFill>
          <a:ln w="12700">
            <a:solidFill>
              <a:srgbClr val="D8942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9829800" y="375818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</a:t>
            </a:r>
            <a:endParaRPr lang="en-US" sz="750" dirty="0"/>
          </a:p>
        </p:txBody>
      </p:sp>
      <p:sp>
        <p:nvSpPr>
          <p:cNvPr id="21" name="Shape 17"/>
          <p:cNvSpPr/>
          <p:nvPr/>
        </p:nvSpPr>
        <p:spPr>
          <a:xfrm>
            <a:off x="594360" y="4663440"/>
            <a:ext cx="10789920" cy="1143000"/>
          </a:xfrm>
          <a:prstGeom prst="roundRect">
            <a:avLst>
              <a:gd name="adj" fmla="val 3200"/>
            </a:avLst>
          </a:prstGeom>
          <a:solidFill>
            <a:srgbClr val="EAF6F3"/>
          </a:solidFill>
          <a:ln w="12700">
            <a:solidFill>
              <a:srgbClr val="CDE4D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68680" y="486460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Narrative prompt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868680" y="5212080"/>
            <a:ext cx="9784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 this box with the customer-specific implication for commercial rationale. Keep it commercial, concise and linked to the buyer decision.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pic>
        <p:nvPicPr>
          <p:cNvPr id="3" name="Image 0" descr="APT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56032"/>
            <a:ext cx="1143000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03920" y="256032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Promotional Proposal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11480" y="647395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Vale Snacks x Westfield Stores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8778240" y="6473952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Fictional editable example data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502920" y="804672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Forecast uplift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30352" y="1371600"/>
            <a:ext cx="7223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Westfield Stores example view using editable commercial data and assumptions.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58368" y="1874520"/>
            <a:ext cx="443484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Headline: Vale Snacks has a credible growth story for Westfield Stores, with practical actions buyers can assess quickly.</a:t>
            </a:r>
            <a:endParaRPr lang="en-US" sz="1050" dirty="0"/>
          </a:p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Evidence: example sales, units, distribution and support assumptions are included for editing.</a:t>
            </a:r>
            <a:endParaRPr lang="en-US" sz="1050" dirty="0"/>
          </a:p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Decision: agree the priority action, owner and next step for this workstream.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956816"/>
          <a:ext cx="5120640" cy="233172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280160"/>
                <a:gridCol w="1280160"/>
              </a:tblGrid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Target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Status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Net sales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£4.5m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£5.0m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Ahead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Units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3.0m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3.3m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On track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Gross margin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32.3%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34.0%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Watch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Distribution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78%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86%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Opportunity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6080760" y="1956816"/>
            <a:ext cx="5303520" cy="2331720"/>
          </a:xfrm>
          <a:prstGeom prst="rect">
            <a:avLst/>
          </a:prstGeom>
          <a:solidFill>
            <a:srgbClr val="F8FBFA"/>
          </a:solidFill>
          <a:ln w="12700">
            <a:solidFill>
              <a:srgbClr val="D8E2D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35508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chart area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400800" y="2697480"/>
            <a:ext cx="1310640" cy="164592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829800" y="266090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6400800" y="3063240"/>
            <a:ext cx="1996440" cy="164592"/>
          </a:xfrm>
          <a:prstGeom prst="rect">
            <a:avLst/>
          </a:prstGeom>
          <a:solidFill>
            <a:srgbClr val="D8942A"/>
          </a:solidFill>
          <a:ln w="12700">
            <a:solidFill>
              <a:srgbClr val="D8942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829800" y="302666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</a:t>
            </a:r>
            <a:endParaRPr lang="en-US" sz="750" dirty="0"/>
          </a:p>
        </p:txBody>
      </p:sp>
      <p:sp>
        <p:nvSpPr>
          <p:cNvPr id="17" name="Shape 13"/>
          <p:cNvSpPr/>
          <p:nvPr/>
        </p:nvSpPr>
        <p:spPr>
          <a:xfrm>
            <a:off x="6400800" y="3429000"/>
            <a:ext cx="2682240" cy="164592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829800" y="339242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750" dirty="0"/>
          </a:p>
        </p:txBody>
      </p:sp>
      <p:sp>
        <p:nvSpPr>
          <p:cNvPr id="19" name="Shape 15"/>
          <p:cNvSpPr/>
          <p:nvPr/>
        </p:nvSpPr>
        <p:spPr>
          <a:xfrm>
            <a:off x="6400800" y="3794760"/>
            <a:ext cx="3368040" cy="164592"/>
          </a:xfrm>
          <a:prstGeom prst="rect">
            <a:avLst/>
          </a:prstGeom>
          <a:solidFill>
            <a:srgbClr val="D8942A"/>
          </a:solidFill>
          <a:ln w="12700">
            <a:solidFill>
              <a:srgbClr val="D8942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9829800" y="375818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</a:t>
            </a:r>
            <a:endParaRPr lang="en-US" sz="750" dirty="0"/>
          </a:p>
        </p:txBody>
      </p:sp>
      <p:sp>
        <p:nvSpPr>
          <p:cNvPr id="21" name="Shape 17"/>
          <p:cNvSpPr/>
          <p:nvPr/>
        </p:nvSpPr>
        <p:spPr>
          <a:xfrm>
            <a:off x="594360" y="4663440"/>
            <a:ext cx="10789920" cy="1143000"/>
          </a:xfrm>
          <a:prstGeom prst="roundRect">
            <a:avLst>
              <a:gd name="adj" fmla="val 3200"/>
            </a:avLst>
          </a:prstGeom>
          <a:solidFill>
            <a:srgbClr val="FFF8E8"/>
          </a:solidFill>
          <a:ln w="12700">
            <a:solidFill>
              <a:srgbClr val="E8DAB6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68680" y="486460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894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Narrative prompt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868680" y="5212080"/>
            <a:ext cx="9784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 this box with the customer-specific implication for forecast uplift. Keep it commercial, concise and linked to the buyer decision.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pic>
        <p:nvPicPr>
          <p:cNvPr id="3" name="Image 0" descr="APT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56032"/>
            <a:ext cx="1143000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03920" y="256032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Promotional Proposal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11480" y="647395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Vale Snacks x Westfield Stores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8778240" y="6473952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Fictional editable example data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502920" y="804672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ROI assumptions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30352" y="1371600"/>
            <a:ext cx="7223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Westfield Stores example view using editable commercial data and assumptions.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58368" y="1874520"/>
            <a:ext cx="443484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Headline: Vale Snacks has a credible growth story for Westfield Stores, with practical actions buyers can assess quickly.</a:t>
            </a:r>
            <a:endParaRPr lang="en-US" sz="1050" dirty="0"/>
          </a:p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Evidence: example sales, units, distribution and support assumptions are included for editing.</a:t>
            </a:r>
            <a:endParaRPr lang="en-US" sz="1050" dirty="0"/>
          </a:p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Decision: agree the priority action, owner and next step for this workstream.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956816"/>
          <a:ext cx="5120640" cy="233172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280160"/>
                <a:gridCol w="1280160"/>
              </a:tblGrid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Target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Status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Net sales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£4.6m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£5.2m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Ahead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Units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3.0m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3.4m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On track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Gross margin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32.5%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34.3%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Watch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Distribution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79%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87%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Opportunity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6080760" y="1956816"/>
            <a:ext cx="5303520" cy="2331720"/>
          </a:xfrm>
          <a:prstGeom prst="rect">
            <a:avLst/>
          </a:prstGeom>
          <a:solidFill>
            <a:srgbClr val="F8FBFA"/>
          </a:solidFill>
          <a:ln w="12700">
            <a:solidFill>
              <a:srgbClr val="D8E2D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35508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chart area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400800" y="2697480"/>
            <a:ext cx="1386840" cy="164592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829800" y="266090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6400800" y="3063240"/>
            <a:ext cx="2072640" cy="164592"/>
          </a:xfrm>
          <a:prstGeom prst="rect">
            <a:avLst/>
          </a:prstGeom>
          <a:solidFill>
            <a:srgbClr val="D8942A"/>
          </a:solidFill>
          <a:ln w="12700">
            <a:solidFill>
              <a:srgbClr val="D8942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829800" y="302666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</a:t>
            </a:r>
            <a:endParaRPr lang="en-US" sz="750" dirty="0"/>
          </a:p>
        </p:txBody>
      </p:sp>
      <p:sp>
        <p:nvSpPr>
          <p:cNvPr id="17" name="Shape 13"/>
          <p:cNvSpPr/>
          <p:nvPr/>
        </p:nvSpPr>
        <p:spPr>
          <a:xfrm>
            <a:off x="6400800" y="3429000"/>
            <a:ext cx="2758440" cy="164592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829800" y="339242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750" dirty="0"/>
          </a:p>
        </p:txBody>
      </p:sp>
      <p:sp>
        <p:nvSpPr>
          <p:cNvPr id="19" name="Shape 15"/>
          <p:cNvSpPr/>
          <p:nvPr/>
        </p:nvSpPr>
        <p:spPr>
          <a:xfrm>
            <a:off x="6400800" y="3794760"/>
            <a:ext cx="3444240" cy="164592"/>
          </a:xfrm>
          <a:prstGeom prst="rect">
            <a:avLst/>
          </a:prstGeom>
          <a:solidFill>
            <a:srgbClr val="D8942A"/>
          </a:solidFill>
          <a:ln w="12700">
            <a:solidFill>
              <a:srgbClr val="D8942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9829800" y="375818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</a:t>
            </a:r>
            <a:endParaRPr lang="en-US" sz="750" dirty="0"/>
          </a:p>
        </p:txBody>
      </p:sp>
      <p:sp>
        <p:nvSpPr>
          <p:cNvPr id="21" name="Shape 17"/>
          <p:cNvSpPr/>
          <p:nvPr/>
        </p:nvSpPr>
        <p:spPr>
          <a:xfrm>
            <a:off x="594360" y="4663440"/>
            <a:ext cx="10789920" cy="1143000"/>
          </a:xfrm>
          <a:prstGeom prst="roundRect">
            <a:avLst>
              <a:gd name="adj" fmla="val 3200"/>
            </a:avLst>
          </a:prstGeom>
          <a:solidFill>
            <a:srgbClr val="EAF6F3"/>
          </a:solidFill>
          <a:ln w="12700">
            <a:solidFill>
              <a:srgbClr val="CDE4D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68680" y="486460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Narrative prompt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868680" y="5212080"/>
            <a:ext cx="9784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 this box with the customer-specific implication for roi assumptions. Keep it commercial, concise and linked to the buyer decision.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pic>
        <p:nvPicPr>
          <p:cNvPr id="3" name="Image 0" descr="APT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56032"/>
            <a:ext cx="1143000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03920" y="256032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Promotional Proposal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11480" y="647395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Vale Snacks x Westfield Stores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8778240" y="6473952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Fictional editable example data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502920" y="804672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Retailer benefit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30352" y="1371600"/>
            <a:ext cx="7223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Westfield Stores example view using editable commercial data and assumptions.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58368" y="1874520"/>
            <a:ext cx="443484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Headline: Vale Snacks has a credible growth story for Westfield Stores, with practical actions buyers can assess quickly.</a:t>
            </a:r>
            <a:endParaRPr lang="en-US" sz="1050" dirty="0"/>
          </a:p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Evidence: example sales, units, distribution and support assumptions are included for editing.</a:t>
            </a:r>
            <a:endParaRPr lang="en-US" sz="1050" dirty="0"/>
          </a:p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Decision: agree the priority action, owner and next step for this workstream.</a:t>
            </a:r>
            <a:endParaRPr lang="en-US" sz="10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956816"/>
          <a:ext cx="5120640" cy="233172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280160"/>
                <a:gridCol w="1280160"/>
              </a:tblGrid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Target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Status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Net sales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£4.7m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£5.3m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Ahead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Units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3.1m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3.4m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On track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Gross margin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32.7%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34.5%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Watch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Distribution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80%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88%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Opportunity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6080760" y="1956816"/>
            <a:ext cx="5303520" cy="2331720"/>
          </a:xfrm>
          <a:prstGeom prst="rect">
            <a:avLst/>
          </a:prstGeom>
          <a:solidFill>
            <a:srgbClr val="F8FBFA"/>
          </a:solidFill>
          <a:ln w="12700">
            <a:solidFill>
              <a:srgbClr val="D8E2D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35508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chart area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400800" y="2697480"/>
            <a:ext cx="1463040" cy="164592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829800" y="266090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6400800" y="3063240"/>
            <a:ext cx="2148840" cy="164592"/>
          </a:xfrm>
          <a:prstGeom prst="rect">
            <a:avLst/>
          </a:prstGeom>
          <a:solidFill>
            <a:srgbClr val="D8942A"/>
          </a:solidFill>
          <a:ln w="12700">
            <a:solidFill>
              <a:srgbClr val="D8942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829800" y="302666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</a:t>
            </a:r>
            <a:endParaRPr lang="en-US" sz="750" dirty="0"/>
          </a:p>
        </p:txBody>
      </p:sp>
      <p:sp>
        <p:nvSpPr>
          <p:cNvPr id="17" name="Shape 13"/>
          <p:cNvSpPr/>
          <p:nvPr/>
        </p:nvSpPr>
        <p:spPr>
          <a:xfrm>
            <a:off x="6400800" y="3429000"/>
            <a:ext cx="2834640" cy="164592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829800" y="339242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750" dirty="0"/>
          </a:p>
        </p:txBody>
      </p:sp>
      <p:sp>
        <p:nvSpPr>
          <p:cNvPr id="19" name="Shape 15"/>
          <p:cNvSpPr/>
          <p:nvPr/>
        </p:nvSpPr>
        <p:spPr>
          <a:xfrm>
            <a:off x="6400800" y="3794760"/>
            <a:ext cx="3520440" cy="164592"/>
          </a:xfrm>
          <a:prstGeom prst="rect">
            <a:avLst/>
          </a:prstGeom>
          <a:solidFill>
            <a:srgbClr val="D8942A"/>
          </a:solidFill>
          <a:ln w="12700">
            <a:solidFill>
              <a:srgbClr val="D8942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9829800" y="375818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</a:t>
            </a:r>
            <a:endParaRPr lang="en-US" sz="750" dirty="0"/>
          </a:p>
        </p:txBody>
      </p:sp>
      <p:sp>
        <p:nvSpPr>
          <p:cNvPr id="21" name="Shape 17"/>
          <p:cNvSpPr/>
          <p:nvPr/>
        </p:nvSpPr>
        <p:spPr>
          <a:xfrm>
            <a:off x="594360" y="4663440"/>
            <a:ext cx="10789920" cy="1143000"/>
          </a:xfrm>
          <a:prstGeom prst="roundRect">
            <a:avLst>
              <a:gd name="adj" fmla="val 3200"/>
            </a:avLst>
          </a:prstGeom>
          <a:solidFill>
            <a:srgbClr val="FFF8E8"/>
          </a:solidFill>
          <a:ln w="12700">
            <a:solidFill>
              <a:srgbClr val="E8DAB6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68680" y="486460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894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Narrative prompt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868680" y="5212080"/>
            <a:ext cx="9784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 this box with the customer-specific implication for retailer benefit. Keep it commercial, concise and linked to the buyer decision.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pic>
        <p:nvPicPr>
          <p:cNvPr id="3" name="Image 0" descr="APT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56032"/>
            <a:ext cx="1143000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03920" y="256032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Promotional Proposal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11480" y="647395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Vale Snacks x Westfield Stores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8778240" y="6473952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Fictional editable example data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502920" y="804672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Support requested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30352" y="1371600"/>
            <a:ext cx="7223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Westfield Stores example view using editable commercial data and assumptions.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58368" y="1874520"/>
            <a:ext cx="443484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Headline: Vale Snacks has a credible growth story for Westfield Stores, with practical actions buyers can assess quickly.</a:t>
            </a:r>
            <a:endParaRPr lang="en-US" sz="1050" dirty="0"/>
          </a:p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Evidence: example sales, units, distribution and support assumptions are included for editing.</a:t>
            </a:r>
            <a:endParaRPr lang="en-US" sz="1050" dirty="0"/>
          </a:p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Decision: agree the priority action, owner and next step for this workstream.</a:t>
            </a:r>
            <a:endParaRPr lang="en-US" sz="10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956816"/>
          <a:ext cx="5120640" cy="233172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280160"/>
                <a:gridCol w="1280160"/>
              </a:tblGrid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Target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Status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Net sales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£4.8m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£5.4m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Ahead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Units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3.1m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3.5m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On track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Gross margin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32.9%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34.8%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Watch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Distribution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81%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89%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Opportunity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6080760" y="1956816"/>
            <a:ext cx="5303520" cy="2331720"/>
          </a:xfrm>
          <a:prstGeom prst="rect">
            <a:avLst/>
          </a:prstGeom>
          <a:solidFill>
            <a:srgbClr val="F8FBFA"/>
          </a:solidFill>
          <a:ln w="12700">
            <a:solidFill>
              <a:srgbClr val="D8E2D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35508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chart area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400800" y="2697480"/>
            <a:ext cx="1539240" cy="164592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829800" y="266090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6400800" y="3063240"/>
            <a:ext cx="2225040" cy="164592"/>
          </a:xfrm>
          <a:prstGeom prst="rect">
            <a:avLst/>
          </a:prstGeom>
          <a:solidFill>
            <a:srgbClr val="D8942A"/>
          </a:solidFill>
          <a:ln w="12700">
            <a:solidFill>
              <a:srgbClr val="D8942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829800" y="302666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</a:t>
            </a:r>
            <a:endParaRPr lang="en-US" sz="750" dirty="0"/>
          </a:p>
        </p:txBody>
      </p:sp>
      <p:sp>
        <p:nvSpPr>
          <p:cNvPr id="17" name="Shape 13"/>
          <p:cNvSpPr/>
          <p:nvPr/>
        </p:nvSpPr>
        <p:spPr>
          <a:xfrm>
            <a:off x="6400800" y="3429000"/>
            <a:ext cx="2910840" cy="164592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829800" y="339242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750" dirty="0"/>
          </a:p>
        </p:txBody>
      </p:sp>
      <p:sp>
        <p:nvSpPr>
          <p:cNvPr id="19" name="Shape 15"/>
          <p:cNvSpPr/>
          <p:nvPr/>
        </p:nvSpPr>
        <p:spPr>
          <a:xfrm>
            <a:off x="6400800" y="3794760"/>
            <a:ext cx="3596640" cy="164592"/>
          </a:xfrm>
          <a:prstGeom prst="rect">
            <a:avLst/>
          </a:prstGeom>
          <a:solidFill>
            <a:srgbClr val="D8942A"/>
          </a:solidFill>
          <a:ln w="12700">
            <a:solidFill>
              <a:srgbClr val="D8942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9829800" y="375818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</a:t>
            </a:r>
            <a:endParaRPr lang="en-US" sz="750" dirty="0"/>
          </a:p>
        </p:txBody>
      </p:sp>
      <p:sp>
        <p:nvSpPr>
          <p:cNvPr id="21" name="Shape 17"/>
          <p:cNvSpPr/>
          <p:nvPr/>
        </p:nvSpPr>
        <p:spPr>
          <a:xfrm>
            <a:off x="594360" y="4663440"/>
            <a:ext cx="10789920" cy="1143000"/>
          </a:xfrm>
          <a:prstGeom prst="roundRect">
            <a:avLst>
              <a:gd name="adj" fmla="val 3200"/>
            </a:avLst>
          </a:prstGeom>
          <a:solidFill>
            <a:srgbClr val="EAF6F3"/>
          </a:solidFill>
          <a:ln w="12700">
            <a:solidFill>
              <a:srgbClr val="CDE4D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68680" y="486460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Narrative prompt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868680" y="5212080"/>
            <a:ext cx="9784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 this box with the customer-specific implication for support requested. Keep it commercial, concise and linked to the buyer decision.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pic>
        <p:nvPicPr>
          <p:cNvPr id="3" name="Image 0" descr="APT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56032"/>
            <a:ext cx="1143000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03920" y="256032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Promotional Proposal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11480" y="647395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Vale Snacks x Westfield Stores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8778240" y="6473952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Fictional editable example data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502920" y="804672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Recommendation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30352" y="1371600"/>
            <a:ext cx="7223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Westfield Stores example view using editable commercial data and assumptions.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58368" y="1874520"/>
            <a:ext cx="443484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Headline: Vale Snacks has a credible growth story for Westfield Stores, with practical actions buyers can assess quickly.</a:t>
            </a:r>
            <a:endParaRPr lang="en-US" sz="1050" dirty="0"/>
          </a:p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Evidence: example sales, units, distribution and support assumptions are included for editing.</a:t>
            </a:r>
            <a:endParaRPr lang="en-US" sz="1050" dirty="0"/>
          </a:p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Decision: agree the priority action, owner and next step for this workstream.</a:t>
            </a:r>
            <a:endParaRPr lang="en-US" sz="10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956816"/>
          <a:ext cx="5120640" cy="233172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280160"/>
                <a:gridCol w="1280160"/>
              </a:tblGrid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Target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Status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Net sales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£4.9m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£5.5m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Ahead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Units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3.2m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3.5m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On track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Gross margin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33.1%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35.0%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Watch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Distribution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82%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90%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Opportunity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6080760" y="1956816"/>
            <a:ext cx="5303520" cy="2331720"/>
          </a:xfrm>
          <a:prstGeom prst="rect">
            <a:avLst/>
          </a:prstGeom>
          <a:solidFill>
            <a:srgbClr val="F8FBFA"/>
          </a:solidFill>
          <a:ln w="12700">
            <a:solidFill>
              <a:srgbClr val="D8E2D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35508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chart area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400800" y="2697480"/>
            <a:ext cx="1615440" cy="164592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829800" y="266090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6400800" y="3063240"/>
            <a:ext cx="2301240" cy="164592"/>
          </a:xfrm>
          <a:prstGeom prst="rect">
            <a:avLst/>
          </a:prstGeom>
          <a:solidFill>
            <a:srgbClr val="D8942A"/>
          </a:solidFill>
          <a:ln w="12700">
            <a:solidFill>
              <a:srgbClr val="D8942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829800" y="302666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</a:t>
            </a:r>
            <a:endParaRPr lang="en-US" sz="750" dirty="0"/>
          </a:p>
        </p:txBody>
      </p:sp>
      <p:sp>
        <p:nvSpPr>
          <p:cNvPr id="17" name="Shape 13"/>
          <p:cNvSpPr/>
          <p:nvPr/>
        </p:nvSpPr>
        <p:spPr>
          <a:xfrm>
            <a:off x="6400800" y="3429000"/>
            <a:ext cx="2987040" cy="164592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829800" y="339242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750" dirty="0"/>
          </a:p>
        </p:txBody>
      </p:sp>
      <p:sp>
        <p:nvSpPr>
          <p:cNvPr id="19" name="Shape 15"/>
          <p:cNvSpPr/>
          <p:nvPr/>
        </p:nvSpPr>
        <p:spPr>
          <a:xfrm>
            <a:off x="6400800" y="3794760"/>
            <a:ext cx="3672840" cy="164592"/>
          </a:xfrm>
          <a:prstGeom prst="rect">
            <a:avLst/>
          </a:prstGeom>
          <a:solidFill>
            <a:srgbClr val="D8942A"/>
          </a:solidFill>
          <a:ln w="12700">
            <a:solidFill>
              <a:srgbClr val="D8942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9829800" y="375818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</a:t>
            </a:r>
            <a:endParaRPr lang="en-US" sz="750" dirty="0"/>
          </a:p>
        </p:txBody>
      </p:sp>
      <p:sp>
        <p:nvSpPr>
          <p:cNvPr id="21" name="Shape 17"/>
          <p:cNvSpPr/>
          <p:nvPr/>
        </p:nvSpPr>
        <p:spPr>
          <a:xfrm>
            <a:off x="594360" y="4663440"/>
            <a:ext cx="10789920" cy="1143000"/>
          </a:xfrm>
          <a:prstGeom prst="roundRect">
            <a:avLst>
              <a:gd name="adj" fmla="val 3200"/>
            </a:avLst>
          </a:prstGeom>
          <a:solidFill>
            <a:srgbClr val="FFF8E8"/>
          </a:solidFill>
          <a:ln w="12700">
            <a:solidFill>
              <a:srgbClr val="E8DAB6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68680" y="486460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894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Narrative prompt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868680" y="5212080"/>
            <a:ext cx="9784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 this box with the customer-specific implication for recommendation. Keep it commercial, concise and linked to the buyer decision.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APT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 Multibuy Promotional Proposal</dc:title>
  <dc:subject>Promotional Proposal editable template</dc:subject>
  <dc:creator>APT Account Planning Tools</dc:creator>
  <cp:lastModifiedBy>APT Account Planning Tools</cp:lastModifiedBy>
  <cp:revision>1</cp:revision>
  <dcterms:created xsi:type="dcterms:W3CDTF">2026-08-09T18:06:35Z</dcterms:created>
  <dcterms:modified xsi:type="dcterms:W3CDTF">2026-08-09T18:06:35Z</dcterms:modified>
</cp:coreProperties>
</file>