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0" y="109728"/>
            <a:ext cx="12191695" cy="6748272"/>
          </a:xfrm>
          <a:prstGeom prst="rect">
            <a:avLst/>
          </a:prstGeom>
          <a:solidFill>
            <a:srgbClr val="F7FAF9"/>
          </a:solidFill>
          <a:ln w="12700">
            <a:solidFill>
              <a:srgbClr val="F7FAF9"/>
            </a:solidFill>
            <a:prstDash val="solid"/>
          </a:ln>
        </p:spPr>
      </p:sp>
      <p:pic>
        <p:nvPicPr>
          <p:cNvPr id="8" name="Image 1" descr="AP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530352"/>
            <a:ext cx="1353312" cy="411480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94360" y="1234440"/>
            <a:ext cx="420624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1000" dirty="0"/>
          </a:p>
        </p:txBody>
      </p:sp>
      <p:sp>
        <p:nvSpPr>
          <p:cNvPr id="10" name="Text 6"/>
          <p:cNvSpPr/>
          <p:nvPr/>
        </p:nvSpPr>
        <p:spPr>
          <a:xfrm>
            <a:off x="566928" y="1627632"/>
            <a:ext cx="5806440" cy="1042416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33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Q3 Quarterly Business Review</a:t>
            </a:r>
            <a:endParaRPr lang="en-US" sz="3300" dirty="0"/>
          </a:p>
        </p:txBody>
      </p:sp>
      <p:sp>
        <p:nvSpPr>
          <p:cNvPr id="11" name="Text 7"/>
          <p:cNvSpPr/>
          <p:nvPr/>
        </p:nvSpPr>
        <p:spPr>
          <a:xfrm>
            <a:off x="603504" y="2816352"/>
            <a:ext cx="5303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Prepared with editable fictional data for account and commercial planning.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7498080" y="1005840"/>
            <a:ext cx="3611880" cy="416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18120" y="1298448"/>
            <a:ext cx="3017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Editable deck starter</a:t>
            </a:r>
            <a:endParaRPr lang="en-US" sz="1900" dirty="0"/>
          </a:p>
        </p:txBody>
      </p:sp>
      <p:sp>
        <p:nvSpPr>
          <p:cNvPr id="14" name="Text 10"/>
          <p:cNvSpPr/>
          <p:nvPr/>
        </p:nvSpPr>
        <p:spPr>
          <a:xfrm>
            <a:off x="7818120" y="178308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these slides as a practical customer-facing first draft. Replace the example data, narrative and actions with your own account plan.</a:t>
            </a:r>
            <a:endParaRPr lang="en-US" sz="1200" dirty="0"/>
          </a:p>
        </p:txBody>
      </p:sp>
      <p:sp>
        <p:nvSpPr>
          <p:cNvPr id="15" name="Shape 11"/>
          <p:cNvSpPr/>
          <p:nvPr/>
        </p:nvSpPr>
        <p:spPr>
          <a:xfrm>
            <a:off x="54864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67665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+6.8%</a:t>
            </a:r>
            <a:endParaRPr lang="en-US" sz="1500" dirty="0"/>
          </a:p>
        </p:txBody>
      </p:sp>
      <p:sp>
        <p:nvSpPr>
          <p:cNvPr id="17" name="Text 13"/>
          <p:cNvSpPr/>
          <p:nvPr/>
        </p:nvSpPr>
        <p:spPr>
          <a:xfrm>
            <a:off x="67665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RSV</a:t>
            </a:r>
            <a:endParaRPr lang="en-US" sz="750" dirty="0"/>
          </a:p>
        </p:txBody>
      </p:sp>
      <p:sp>
        <p:nvSpPr>
          <p:cNvPr id="18" name="Shape 14"/>
          <p:cNvSpPr/>
          <p:nvPr/>
        </p:nvSpPr>
        <p:spPr>
          <a:xfrm>
            <a:off x="251460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64261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942A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+3.2pts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264261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distribution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4480560" y="5120640"/>
            <a:ext cx="1783080" cy="713232"/>
          </a:xfrm>
          <a:prstGeom prst="roundRect">
            <a:avLst>
              <a:gd name="adj" fmla="val 7692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4608576" y="5257800"/>
            <a:ext cx="658368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7D73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£420k</a:t>
            </a:r>
            <a:endParaRPr lang="en-US" sz="1500" dirty="0"/>
          </a:p>
        </p:txBody>
      </p:sp>
      <p:sp>
        <p:nvSpPr>
          <p:cNvPr id="23" name="Text 19"/>
          <p:cNvSpPr/>
          <p:nvPr/>
        </p:nvSpPr>
        <p:spPr>
          <a:xfrm>
            <a:off x="4608576" y="5522976"/>
            <a:ext cx="141732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promo RSV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Quarter summary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082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767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453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139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quarter summary.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KPI scorecard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31.9%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84%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158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844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529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15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kpi scorecard.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Sales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2.9m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234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20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06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291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sales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Promo performance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86%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10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1996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682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368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promo performance.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Distribution and range updates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79%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386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072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758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444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distribution and range updates.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Wins and challenges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£4.7m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32.7%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34.5%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463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148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834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20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wins and challenges.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Competitor activity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£4.8m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£5.4m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3.1m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32.9%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34.8%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89%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539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225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108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5966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competitor activity.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Next quarter priorities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£4.9m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3.2m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3.5m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82%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90%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154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012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29870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6728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FFF8E8"/>
          </a:solidFill>
          <a:ln w="12700">
            <a:solidFill>
              <a:srgbClr val="E8DAB6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942A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next quarter priorities.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pic>
        <p:nvPicPr>
          <p:cNvPr id="3" name="Image 0" descr="AP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256032"/>
            <a:ext cx="11430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503920" y="256032"/>
            <a:ext cx="3154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Quarterly Business Review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411480" y="6473952"/>
            <a:ext cx="54864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Harbour Kitchen x Bridgeway Grocers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8778240" y="6473952"/>
            <a:ext cx="29718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Fictional editable example data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502920" y="804672"/>
            <a:ext cx="694944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302D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Commercial asks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530352" y="1371600"/>
            <a:ext cx="7223760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Bridgeway Grocers example view using editable commercial data and assumptions.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58368" y="1874520"/>
            <a:ext cx="4434840" cy="11430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Headline: Harbour Kitchen has a credible growth story for Bridgeway Grocers, with practical actions buyers can assess quickly.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Evidence: example sales, units, distribution and support assumptions are included for editing.</a:t>
            </a:r>
            <a:endParaRPr lang="en-US" sz="1050" dirty="0"/>
          </a:p>
          <a:p>
            <a:r>
              <a:rPr lang="en-US" sz="105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Decision: agree the priority action, owner and next step for this workstream.</a:t>
            </a:r>
            <a:endParaRPr lang="en-US" sz="10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94360" y="1956816"/>
          <a:ext cx="5120640" cy="2331720"/>
        </p:xfrm>
        <a:graphic>
          <a:graphicData uri="http://schemas.openxmlformats.org/drawingml/2006/table">
            <a:tbl>
              <a:tblPr/>
              <a:tblGrid>
                <a:gridCol w="1280160"/>
                <a:gridCol w="1280160"/>
                <a:gridCol w="1280160"/>
                <a:gridCol w="1280160"/>
              </a:tblGrid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Metric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Current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Target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b="1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Status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Net sales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£5.0m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£5.6m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Ahead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Units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3.3m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3.6m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On track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Gross margin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33.3%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35.3%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Watch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663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Distribution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83%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91%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20302D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Opportunity</a:t>
                      </a:r>
                      <a:endParaRPr lang="en-US" sz="93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73152" marR="73152" marT="73152" marB="73152" anchor="mid">
                    <a:lnL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8890" cap="flat" cmpd="sng" algn="ctr">
                      <a:solidFill>
                        <a:srgbClr val="D8E2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6080760" y="1956816"/>
            <a:ext cx="5303520" cy="2331720"/>
          </a:xfrm>
          <a:prstGeom prst="rect">
            <a:avLst/>
          </a:prstGeom>
          <a:solidFill>
            <a:srgbClr val="F8FBFA"/>
          </a:solidFill>
          <a:ln w="12700">
            <a:solidFill>
              <a:srgbClr val="D8E2DF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355080" y="2212848"/>
            <a:ext cx="256032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Editable chart area</a:t>
            </a:r>
            <a:endParaRPr lang="en-US" sz="1000" dirty="0"/>
          </a:p>
        </p:txBody>
      </p:sp>
      <p:sp>
        <p:nvSpPr>
          <p:cNvPr id="13" name="Shape 9"/>
          <p:cNvSpPr/>
          <p:nvPr/>
        </p:nvSpPr>
        <p:spPr>
          <a:xfrm>
            <a:off x="6400800" y="2697480"/>
            <a:ext cx="16916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9829800" y="266090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Q1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6400800" y="3063240"/>
            <a:ext cx="23774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9829800" y="302666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Q2</a:t>
            </a:r>
            <a:endParaRPr lang="en-US" sz="750" dirty="0"/>
          </a:p>
        </p:txBody>
      </p:sp>
      <p:sp>
        <p:nvSpPr>
          <p:cNvPr id="17" name="Shape 13"/>
          <p:cNvSpPr/>
          <p:nvPr/>
        </p:nvSpPr>
        <p:spPr>
          <a:xfrm>
            <a:off x="6400800" y="3429000"/>
            <a:ext cx="3063240" cy="164592"/>
          </a:xfrm>
          <a:prstGeom prst="rect">
            <a:avLst/>
          </a:prstGeom>
          <a:solidFill>
            <a:srgbClr val="2E7D73"/>
          </a:solidFill>
          <a:ln w="12700">
            <a:solidFill>
              <a:srgbClr val="2E7D73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829800" y="339242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Q3</a:t>
            </a:r>
            <a:endParaRPr lang="en-US" sz="750" dirty="0"/>
          </a:p>
        </p:txBody>
      </p:sp>
      <p:sp>
        <p:nvSpPr>
          <p:cNvPr id="19" name="Shape 15"/>
          <p:cNvSpPr/>
          <p:nvPr/>
        </p:nvSpPr>
        <p:spPr>
          <a:xfrm>
            <a:off x="6400800" y="3794760"/>
            <a:ext cx="3749040" cy="164592"/>
          </a:xfrm>
          <a:prstGeom prst="rect">
            <a:avLst/>
          </a:prstGeom>
          <a:solidFill>
            <a:srgbClr val="D8942A"/>
          </a:solidFill>
          <a:ln w="12700">
            <a:solidFill>
              <a:srgbClr val="D8942A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9829800" y="3758184"/>
            <a:ext cx="365760" cy="1645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D6D68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Q4</a:t>
            </a:r>
            <a:endParaRPr lang="en-US" sz="750" dirty="0"/>
          </a:p>
        </p:txBody>
      </p:sp>
      <p:sp>
        <p:nvSpPr>
          <p:cNvPr id="21" name="Shape 17"/>
          <p:cNvSpPr/>
          <p:nvPr/>
        </p:nvSpPr>
        <p:spPr>
          <a:xfrm>
            <a:off x="594360" y="4663440"/>
            <a:ext cx="10789920" cy="1143000"/>
          </a:xfrm>
          <a:prstGeom prst="roundRect">
            <a:avLst>
              <a:gd name="adj" fmla="val 3200"/>
            </a:avLst>
          </a:prstGeom>
          <a:solidFill>
            <a:srgbClr val="EAF6F3"/>
          </a:solidFill>
          <a:ln w="12700">
            <a:solidFill>
              <a:srgbClr val="CDE4DF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868680" y="4864608"/>
            <a:ext cx="164592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E7D7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Narrative prompt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868680" y="5212080"/>
            <a:ext cx="9784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0302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Edit this box with the customer-specific implication for commercial asks. Keep it commercial, concise and linked to the buyer decision.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APT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Q3 Quarterly Business Review</dc:title>
  <dc:subject>Quarterly Business Review editable template</dc:subject>
  <dc:creator>APT Account Planning Tools</dc:creator>
  <cp:lastModifiedBy>APT Account Planning Tools</cp:lastModifiedBy>
  <cp:revision>1</cp:revision>
  <dcterms:created xsi:type="dcterms:W3CDTF">2026-08-08T14:37:58Z</dcterms:created>
  <dcterms:modified xsi:type="dcterms:W3CDTF">2026-08-08T14:37:58Z</dcterms:modified>
</cp:coreProperties>
</file>