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notesMasterIdLst>
    <p:notesMasterId r:id="rId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Category Opportunity Deck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Meridian Home x Crownfield Superstores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Shape 4"/>
          <p:cNvSpPr/>
          <p:nvPr/>
        </p:nvSpPr>
        <p:spPr>
          <a:xfrm>
            <a:off x="0" y="109728"/>
            <a:ext cx="12191695" cy="6748272"/>
          </a:xfrm>
          <a:prstGeom prst="rect">
            <a:avLst/>
          </a:prstGeom>
          <a:solidFill>
            <a:srgbClr val="F7FAF9"/>
          </a:solidFill>
          <a:ln w="12700">
            <a:solidFill>
              <a:srgbClr val="F7FAF9"/>
            </a:solidFill>
            <a:prstDash val="solid"/>
          </a:ln>
        </p:spPr>
      </p:sp>
      <p:pic>
        <p:nvPicPr>
          <p:cNvPr id="8" name="Image 1" descr="APT logo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530352"/>
            <a:ext cx="1353312" cy="41148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594360" y="1234440"/>
            <a:ext cx="42062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Category Opportunity Deck</a:t>
            </a:r>
            <a:endParaRPr lang="en-US" sz="1000" dirty="0"/>
          </a:p>
        </p:txBody>
      </p:sp>
      <p:sp>
        <p:nvSpPr>
          <p:cNvPr id="10" name="Text 6"/>
          <p:cNvSpPr/>
          <p:nvPr/>
        </p:nvSpPr>
        <p:spPr>
          <a:xfrm>
            <a:off x="566928" y="1627632"/>
            <a:ext cx="5806440" cy="104241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33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Category Opportunity Deck</a:t>
            </a:r>
            <a:endParaRPr lang="en-US" sz="3300" dirty="0"/>
          </a:p>
        </p:txBody>
      </p:sp>
      <p:sp>
        <p:nvSpPr>
          <p:cNvPr id="11" name="Text 7"/>
          <p:cNvSpPr/>
          <p:nvPr/>
        </p:nvSpPr>
        <p:spPr>
          <a:xfrm>
            <a:off x="603504" y="2816352"/>
            <a:ext cx="53035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Crownfield Superstores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Prepared with editable fictional data for account and commercial planning.</a:t>
            </a:r>
            <a:endParaRPr lang="en-US" sz="1300" dirty="0"/>
          </a:p>
        </p:txBody>
      </p:sp>
      <p:sp>
        <p:nvSpPr>
          <p:cNvPr id="12" name="Shape 8"/>
          <p:cNvSpPr/>
          <p:nvPr/>
        </p:nvSpPr>
        <p:spPr>
          <a:xfrm>
            <a:off x="7498080" y="1005840"/>
            <a:ext cx="3611880" cy="4160520"/>
          </a:xfrm>
          <a:prstGeom prst="rect">
            <a:avLst/>
          </a:prstGeom>
          <a:solidFill>
            <a:srgbClr val="FFFFFF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3" name="Text 9"/>
          <p:cNvSpPr/>
          <p:nvPr/>
        </p:nvSpPr>
        <p:spPr>
          <a:xfrm>
            <a:off x="7818120" y="1298448"/>
            <a:ext cx="3017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Editable deck starter</a:t>
            </a:r>
            <a:endParaRPr lang="en-US" sz="1900" dirty="0"/>
          </a:p>
        </p:txBody>
      </p:sp>
      <p:sp>
        <p:nvSpPr>
          <p:cNvPr id="14" name="Text 10"/>
          <p:cNvSpPr/>
          <p:nvPr/>
        </p:nvSpPr>
        <p:spPr>
          <a:xfrm>
            <a:off x="7818120" y="1783080"/>
            <a:ext cx="28346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Use these slides as a practical customer-facing first draft. Replace the example data, narrative and actions with your own account plan.</a:t>
            </a:r>
            <a:endParaRPr lang="en-US" sz="1200" dirty="0"/>
          </a:p>
        </p:txBody>
      </p:sp>
      <p:sp>
        <p:nvSpPr>
          <p:cNvPr id="15" name="Shape 11"/>
          <p:cNvSpPr/>
          <p:nvPr/>
        </p:nvSpPr>
        <p:spPr>
          <a:xfrm>
            <a:off x="548640" y="5120640"/>
            <a:ext cx="1783080" cy="713232"/>
          </a:xfrm>
          <a:prstGeom prst="roundRect">
            <a:avLst>
              <a:gd name="adj" fmla="val 7692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676656" y="5257800"/>
            <a:ext cx="6583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7D7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+5.6%</a:t>
            </a:r>
            <a:endParaRPr lang="en-US" sz="1500" dirty="0"/>
          </a:p>
        </p:txBody>
      </p:sp>
      <p:sp>
        <p:nvSpPr>
          <p:cNvPr id="17" name="Text 13"/>
          <p:cNvSpPr/>
          <p:nvPr/>
        </p:nvSpPr>
        <p:spPr>
          <a:xfrm>
            <a:off x="676656" y="5522976"/>
            <a:ext cx="14173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category growth</a:t>
            </a:r>
            <a:endParaRPr lang="en-US" sz="750" dirty="0"/>
          </a:p>
        </p:txBody>
      </p:sp>
      <p:sp>
        <p:nvSpPr>
          <p:cNvPr id="18" name="Shape 14"/>
          <p:cNvSpPr/>
          <p:nvPr/>
        </p:nvSpPr>
        <p:spPr>
          <a:xfrm>
            <a:off x="2514600" y="5120640"/>
            <a:ext cx="1783080" cy="713232"/>
          </a:xfrm>
          <a:prstGeom prst="roundRect">
            <a:avLst>
              <a:gd name="adj" fmla="val 7692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19" name="Text 15"/>
          <p:cNvSpPr/>
          <p:nvPr/>
        </p:nvSpPr>
        <p:spPr>
          <a:xfrm>
            <a:off x="2642616" y="5257800"/>
            <a:ext cx="6583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D8942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£3.1m</a:t>
            </a:r>
            <a:endParaRPr lang="en-US" sz="1500" dirty="0"/>
          </a:p>
        </p:txBody>
      </p:sp>
      <p:sp>
        <p:nvSpPr>
          <p:cNvPr id="20" name="Text 16"/>
          <p:cNvSpPr/>
          <p:nvPr/>
        </p:nvSpPr>
        <p:spPr>
          <a:xfrm>
            <a:off x="2642616" y="5522976"/>
            <a:ext cx="14173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white space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4480560" y="5120640"/>
            <a:ext cx="1783080" cy="713232"/>
          </a:xfrm>
          <a:prstGeom prst="roundRect">
            <a:avLst>
              <a:gd name="adj" fmla="val 7692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4608576" y="5257800"/>
            <a:ext cx="6583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7D7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9</a:t>
            </a:r>
            <a:endParaRPr lang="en-US" sz="1500" dirty="0"/>
          </a:p>
        </p:txBody>
      </p:sp>
      <p:sp>
        <p:nvSpPr>
          <p:cNvPr id="23" name="Text 19"/>
          <p:cNvSpPr/>
          <p:nvPr/>
        </p:nvSpPr>
        <p:spPr>
          <a:xfrm>
            <a:off x="4608576" y="5522976"/>
            <a:ext cx="14173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target stores</a:t>
            </a:r>
            <a:endParaRPr lang="en-US" sz="7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Category Opportunity Deck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Meridian Home x Crownfield Superstores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Category performance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Crownfield Superstores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Meridian Home has a credible growth story for Crownfield Superstores,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£4.7m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2.8m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31.7%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082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767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4536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1394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category performance.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Category Opportunity Deck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Meridian Home x Crownfield Superstores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Shopper trends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Crownfield Superstores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Meridian Home has a credible growth story for Crownfield Superstores,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£4.8m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31.9%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76%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84%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1582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8440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5298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2156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shopper trends.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Category Opportunity Deck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Meridian Home x Crownfield Superstores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White space opportunities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Crownfield Superstores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Meridian Home has a credible growth story for Crownfield Superstores,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32.1%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2344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9202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606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291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white space opportunities.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Category Opportunity Deck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Meridian Home x Crownfield Superstores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Competitor benchmarking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Crownfield Superstores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Meridian Home has a credible growth story for Crownfield Superstores,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£4.5m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£5.0m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3.0m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34.0%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86%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3106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9964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6822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3680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competitor benchmarking.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Category Opportunity Deck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Meridian Home x Crownfield Superstores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Opportunity sizing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Crownfield Superstores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Meridian Home has a credible growth story for Crownfield Superstores,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£4.6m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3.0m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3868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0726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7584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4442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opportunity sizing.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Category Opportunity Deck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Meridian Home x Crownfield Superstores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Recommendations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Crownfield Superstores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Meridian Home has a credible growth story for Crownfield Superstores,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£4.7m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3.1m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80%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463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148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8346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5204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recommendations.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</vt:vector>
  </TitlesOfParts>
  <Company>APT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Category Opportunity Deck</dc:title>
  <dc:subject>Category Opportunity Deck editable template</dc:subject>
  <dc:creator>APT Account Planning Tools</dc:creator>
  <cp:lastModifiedBy>APT Account Planning Tools</cp:lastModifiedBy>
  <cp:revision>1</cp:revision>
  <dcterms:created xsi:type="dcterms:W3CDTF">2026-06-15T19:36:02Z</dcterms:created>
  <dcterms:modified xsi:type="dcterms:W3CDTF">2026-06-15T19:36:02Z</dcterms:modified>
</cp:coreProperties>
</file>