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</p:sldIdLst>
  <p:notesMasterIdLst>
    <p:notesMasterId r:id="rId9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notesMaster" Target="notesMasters/notesMaster1.xml"/><Relationship Id="rId10" Type="http://schemas.openxmlformats.org/officeDocument/2006/relationships/presProps" Target="presProps.xml"/><Relationship Id="rId11" Type="http://schemas.openxmlformats.org/officeDocument/2006/relationships/viewProps" Target="viewProps.xml"/><Relationship Id="rId12" Type="http://schemas.openxmlformats.org/officeDocument/2006/relationships/theme" Target="theme/theme1.xml"/><Relationship Id="rId13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1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APT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Category Opportunity Deck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Meridian Home x Crownfield Superstores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Shape 4"/>
          <p:cNvSpPr/>
          <p:nvPr/>
        </p:nvSpPr>
        <p:spPr>
          <a:xfrm>
            <a:off x="0" y="109728"/>
            <a:ext cx="12191695" cy="6748272"/>
          </a:xfrm>
          <a:prstGeom prst="rect">
            <a:avLst/>
          </a:prstGeom>
          <a:solidFill>
            <a:srgbClr val="F7FAF9"/>
          </a:solidFill>
          <a:ln w="12700">
            <a:solidFill>
              <a:srgbClr val="F7FAF9"/>
            </a:solidFill>
            <a:prstDash val="solid"/>
          </a:ln>
        </p:spPr>
      </p:sp>
      <p:pic>
        <p:nvPicPr>
          <p:cNvPr id="8" name="Image 1" descr="APT logo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6928" y="530352"/>
            <a:ext cx="1353312" cy="411480"/>
          </a:xfrm>
          <a:prstGeom prst="rect">
            <a:avLst/>
          </a:prstGeom>
        </p:spPr>
      </p:pic>
      <p:sp>
        <p:nvSpPr>
          <p:cNvPr id="9" name="Text 5"/>
          <p:cNvSpPr/>
          <p:nvPr/>
        </p:nvSpPr>
        <p:spPr>
          <a:xfrm>
            <a:off x="594360" y="1234440"/>
            <a:ext cx="420624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Category Opportunity Deck</a:t>
            </a:r>
            <a:endParaRPr lang="en-US" sz="1000" dirty="0"/>
          </a:p>
        </p:txBody>
      </p:sp>
      <p:sp>
        <p:nvSpPr>
          <p:cNvPr id="10" name="Text 6"/>
          <p:cNvSpPr/>
          <p:nvPr/>
        </p:nvSpPr>
        <p:spPr>
          <a:xfrm>
            <a:off x="566928" y="1627632"/>
            <a:ext cx="5806440" cy="1042416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33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Category Opportunity Deck</a:t>
            </a:r>
            <a:endParaRPr lang="en-US" sz="3300" dirty="0"/>
          </a:p>
        </p:txBody>
      </p:sp>
      <p:sp>
        <p:nvSpPr>
          <p:cNvPr id="11" name="Text 7"/>
          <p:cNvSpPr/>
          <p:nvPr/>
        </p:nvSpPr>
        <p:spPr>
          <a:xfrm>
            <a:off x="603504" y="2816352"/>
            <a:ext cx="53035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Crownfield Superstores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Prepared with editable fictional data for account and commercial planning.</a:t>
            </a:r>
            <a:endParaRPr lang="en-US" sz="1300" dirty="0"/>
          </a:p>
        </p:txBody>
      </p:sp>
      <p:sp>
        <p:nvSpPr>
          <p:cNvPr id="12" name="Shape 8"/>
          <p:cNvSpPr/>
          <p:nvPr/>
        </p:nvSpPr>
        <p:spPr>
          <a:xfrm>
            <a:off x="7498080" y="1005840"/>
            <a:ext cx="3611880" cy="4160520"/>
          </a:xfrm>
          <a:prstGeom prst="rect">
            <a:avLst/>
          </a:prstGeom>
          <a:solidFill>
            <a:srgbClr val="FFFFFF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3" name="Text 9"/>
          <p:cNvSpPr/>
          <p:nvPr/>
        </p:nvSpPr>
        <p:spPr>
          <a:xfrm>
            <a:off x="7818120" y="1298448"/>
            <a:ext cx="30175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Editable deck starter</a:t>
            </a:r>
            <a:endParaRPr lang="en-US" sz="1900" dirty="0"/>
          </a:p>
        </p:txBody>
      </p:sp>
      <p:sp>
        <p:nvSpPr>
          <p:cNvPr id="14" name="Text 10"/>
          <p:cNvSpPr/>
          <p:nvPr/>
        </p:nvSpPr>
        <p:spPr>
          <a:xfrm>
            <a:off x="7818120" y="1783080"/>
            <a:ext cx="28346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Use these slides as a practical customer-facing first draft. Replace the example data, narrative and actions with your own account plan.</a:t>
            </a:r>
            <a:endParaRPr lang="en-US" sz="1200" dirty="0"/>
          </a:p>
        </p:txBody>
      </p:sp>
      <p:sp>
        <p:nvSpPr>
          <p:cNvPr id="15" name="Shape 11"/>
          <p:cNvSpPr/>
          <p:nvPr/>
        </p:nvSpPr>
        <p:spPr>
          <a:xfrm>
            <a:off x="548640" y="5120640"/>
            <a:ext cx="1783080" cy="713232"/>
          </a:xfrm>
          <a:prstGeom prst="roundRect">
            <a:avLst>
              <a:gd name="adj" fmla="val 7692"/>
            </a:avLst>
          </a:prstGeom>
          <a:solidFill>
            <a:srgbClr val="EAF6F3"/>
          </a:solidFill>
          <a:ln w="12700">
            <a:solidFill>
              <a:srgbClr val="CDE4DF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676656" y="5257800"/>
            <a:ext cx="658368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E7D7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+5.6%</a:t>
            </a:r>
            <a:endParaRPr lang="en-US" sz="1500" dirty="0"/>
          </a:p>
        </p:txBody>
      </p:sp>
      <p:sp>
        <p:nvSpPr>
          <p:cNvPr id="17" name="Text 13"/>
          <p:cNvSpPr/>
          <p:nvPr/>
        </p:nvSpPr>
        <p:spPr>
          <a:xfrm>
            <a:off x="676656" y="5522976"/>
            <a:ext cx="141732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category growth</a:t>
            </a:r>
            <a:endParaRPr lang="en-US" sz="750" dirty="0"/>
          </a:p>
        </p:txBody>
      </p:sp>
      <p:sp>
        <p:nvSpPr>
          <p:cNvPr id="18" name="Shape 14"/>
          <p:cNvSpPr/>
          <p:nvPr/>
        </p:nvSpPr>
        <p:spPr>
          <a:xfrm>
            <a:off x="2514600" y="5120640"/>
            <a:ext cx="1783080" cy="713232"/>
          </a:xfrm>
          <a:prstGeom prst="roundRect">
            <a:avLst>
              <a:gd name="adj" fmla="val 7692"/>
            </a:avLst>
          </a:prstGeom>
          <a:solidFill>
            <a:srgbClr val="FFF8E8"/>
          </a:solidFill>
          <a:ln w="12700">
            <a:solidFill>
              <a:srgbClr val="E8DAB6"/>
            </a:solidFill>
            <a:prstDash val="solid"/>
          </a:ln>
        </p:spPr>
      </p:sp>
      <p:sp>
        <p:nvSpPr>
          <p:cNvPr id="19" name="Text 15"/>
          <p:cNvSpPr/>
          <p:nvPr/>
        </p:nvSpPr>
        <p:spPr>
          <a:xfrm>
            <a:off x="2642616" y="5257800"/>
            <a:ext cx="658368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D8942A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£3.1m</a:t>
            </a:r>
            <a:endParaRPr lang="en-US" sz="1500" dirty="0"/>
          </a:p>
        </p:txBody>
      </p:sp>
      <p:sp>
        <p:nvSpPr>
          <p:cNvPr id="20" name="Text 16"/>
          <p:cNvSpPr/>
          <p:nvPr/>
        </p:nvSpPr>
        <p:spPr>
          <a:xfrm>
            <a:off x="2642616" y="5522976"/>
            <a:ext cx="141732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white space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4480560" y="5120640"/>
            <a:ext cx="1783080" cy="713232"/>
          </a:xfrm>
          <a:prstGeom prst="roundRect">
            <a:avLst>
              <a:gd name="adj" fmla="val 7692"/>
            </a:avLst>
          </a:prstGeom>
          <a:solidFill>
            <a:srgbClr val="EAF6F3"/>
          </a:solidFill>
          <a:ln w="12700">
            <a:solidFill>
              <a:srgbClr val="CDE4DF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4608576" y="5257800"/>
            <a:ext cx="658368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E7D7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9</a:t>
            </a:r>
            <a:endParaRPr lang="en-US" sz="1500" dirty="0"/>
          </a:p>
        </p:txBody>
      </p:sp>
      <p:sp>
        <p:nvSpPr>
          <p:cNvPr id="23" name="Text 19"/>
          <p:cNvSpPr/>
          <p:nvPr/>
        </p:nvSpPr>
        <p:spPr>
          <a:xfrm>
            <a:off x="4608576" y="5522976"/>
            <a:ext cx="141732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target stores</a:t>
            </a:r>
            <a:endParaRPr lang="en-US" sz="7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APT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Category Opportunity Deck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Meridian Home x Crownfield Superstores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Text 4"/>
          <p:cNvSpPr/>
          <p:nvPr/>
        </p:nvSpPr>
        <p:spPr>
          <a:xfrm>
            <a:off x="502920" y="804672"/>
            <a:ext cx="6949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Category performance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530352" y="1371600"/>
            <a:ext cx="72237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Crownfield Superstores example view using editable commercial data and assumptions.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58368" y="1874520"/>
            <a:ext cx="4434840" cy="11430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Headline: Meridian Home has a credible growth story for Crownfield Superstores, with practical actions buyers can assess quickly.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Evidence: example sales, units, distribution and support assumptions are included for editing.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Decision: agree the priority action, owner and next step for this workstream.</a:t>
            </a:r>
            <a:endParaRPr lang="en-US" sz="1050" dirty="0"/>
          </a:p>
        </p:txBody>
      </p:sp>
      <p:graphicFrame>
        <p:nvGraphicFramePr>
          <p:cNvPr id="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956816"/>
          <a:ext cx="5120640" cy="2331720"/>
        </p:xfrm>
        <a:graphic>
          <a:graphicData uri="http://schemas.openxmlformats.org/drawingml/2006/table">
            <a:tbl>
              <a:tblPr/>
              <a:tblGrid>
                <a:gridCol w="1280160"/>
                <a:gridCol w="1280160"/>
                <a:gridCol w="1280160"/>
                <a:gridCol w="1280160"/>
              </a:tblGrid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Metric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Current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Target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Status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Net sales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£4.2m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£4.7m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Ahead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Units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2.8m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3.2m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On track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Gross margin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31.7%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33.3%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Watch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Distribution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75%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83%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Opportunity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6080760" y="1956816"/>
            <a:ext cx="5303520" cy="2331720"/>
          </a:xfrm>
          <a:prstGeom prst="rect">
            <a:avLst/>
          </a:prstGeom>
          <a:solidFill>
            <a:srgbClr val="F8FBFA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6355080" y="2212848"/>
            <a:ext cx="2560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Editable chart area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0" y="2697480"/>
            <a:ext cx="10820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9829800" y="266090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Q1</a:t>
            </a:r>
            <a:endParaRPr lang="en-US" sz="750" dirty="0"/>
          </a:p>
        </p:txBody>
      </p:sp>
      <p:sp>
        <p:nvSpPr>
          <p:cNvPr id="15" name="Shape 11"/>
          <p:cNvSpPr/>
          <p:nvPr/>
        </p:nvSpPr>
        <p:spPr>
          <a:xfrm>
            <a:off x="6400800" y="3063240"/>
            <a:ext cx="17678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9829800" y="302666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Q2</a:t>
            </a:r>
            <a:endParaRPr lang="en-US" sz="750" dirty="0"/>
          </a:p>
        </p:txBody>
      </p:sp>
      <p:sp>
        <p:nvSpPr>
          <p:cNvPr id="17" name="Shape 13"/>
          <p:cNvSpPr/>
          <p:nvPr/>
        </p:nvSpPr>
        <p:spPr>
          <a:xfrm>
            <a:off x="6400800" y="3429000"/>
            <a:ext cx="24536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9829800" y="339242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Q3</a:t>
            </a:r>
            <a:endParaRPr lang="en-US" sz="750" dirty="0"/>
          </a:p>
        </p:txBody>
      </p:sp>
      <p:sp>
        <p:nvSpPr>
          <p:cNvPr id="19" name="Shape 15"/>
          <p:cNvSpPr/>
          <p:nvPr/>
        </p:nvSpPr>
        <p:spPr>
          <a:xfrm>
            <a:off x="6400800" y="3794760"/>
            <a:ext cx="31394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9829800" y="375818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Q4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594360" y="4663440"/>
            <a:ext cx="10789920" cy="1143000"/>
          </a:xfrm>
          <a:prstGeom prst="roundRect">
            <a:avLst>
              <a:gd name="adj" fmla="val 3200"/>
            </a:avLst>
          </a:prstGeom>
          <a:solidFill>
            <a:srgbClr val="EAF6F3"/>
          </a:solidFill>
          <a:ln w="12700">
            <a:solidFill>
              <a:srgbClr val="CDE4DF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868680" y="4864608"/>
            <a:ext cx="1645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Narrative prompt</a:t>
            </a:r>
            <a:endParaRPr lang="en-US" sz="900" dirty="0"/>
          </a:p>
        </p:txBody>
      </p:sp>
      <p:sp>
        <p:nvSpPr>
          <p:cNvPr id="23" name="Text 19"/>
          <p:cNvSpPr/>
          <p:nvPr/>
        </p:nvSpPr>
        <p:spPr>
          <a:xfrm>
            <a:off x="868680" y="5212080"/>
            <a:ext cx="9784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 this box with the customer-specific implication for category performance. Keep it commercial, concise and linked to the buyer decision.</a:t>
            </a:r>
            <a:endParaRPr lang="en-US" sz="11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APT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Category Opportunity Deck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Meridian Home x Crownfield Superstores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Text 4"/>
          <p:cNvSpPr/>
          <p:nvPr/>
        </p:nvSpPr>
        <p:spPr>
          <a:xfrm>
            <a:off x="502920" y="804672"/>
            <a:ext cx="6949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Shopper trends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530352" y="1371600"/>
            <a:ext cx="72237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Crownfield Superstores example view using editable commercial data and assumptions.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58368" y="1874520"/>
            <a:ext cx="4434840" cy="11430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Headline: Meridian Home has a credible growth story for Crownfield Superstores, with practical actions buyers can assess quickly.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Evidence: example sales, units, distribution and support assumptions are included for editing.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Decision: agree the priority action, owner and next step for this workstream.</a:t>
            </a:r>
            <a:endParaRPr lang="en-US" sz="1050" dirty="0"/>
          </a:p>
        </p:txBody>
      </p:sp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956816"/>
          <a:ext cx="5120640" cy="2331720"/>
        </p:xfrm>
        <a:graphic>
          <a:graphicData uri="http://schemas.openxmlformats.org/drawingml/2006/table">
            <a:tbl>
              <a:tblPr/>
              <a:tblGrid>
                <a:gridCol w="1280160"/>
                <a:gridCol w="1280160"/>
                <a:gridCol w="1280160"/>
                <a:gridCol w="1280160"/>
              </a:tblGrid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Metric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Current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Target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Status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Net sales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£4.3m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£4.8m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Ahead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Units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2.9m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3.2m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On track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Gross margin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31.9%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33.5%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Watch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Distribution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76%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84%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Opportunity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6080760" y="1956816"/>
            <a:ext cx="5303520" cy="2331720"/>
          </a:xfrm>
          <a:prstGeom prst="rect">
            <a:avLst/>
          </a:prstGeom>
          <a:solidFill>
            <a:srgbClr val="F8FBFA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6355080" y="2212848"/>
            <a:ext cx="2560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Editable chart area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0" y="2697480"/>
            <a:ext cx="11582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9829800" y="266090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Q1</a:t>
            </a:r>
            <a:endParaRPr lang="en-US" sz="750" dirty="0"/>
          </a:p>
        </p:txBody>
      </p:sp>
      <p:sp>
        <p:nvSpPr>
          <p:cNvPr id="15" name="Shape 11"/>
          <p:cNvSpPr/>
          <p:nvPr/>
        </p:nvSpPr>
        <p:spPr>
          <a:xfrm>
            <a:off x="6400800" y="3063240"/>
            <a:ext cx="18440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9829800" y="302666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Q2</a:t>
            </a:r>
            <a:endParaRPr lang="en-US" sz="750" dirty="0"/>
          </a:p>
        </p:txBody>
      </p:sp>
      <p:sp>
        <p:nvSpPr>
          <p:cNvPr id="17" name="Shape 13"/>
          <p:cNvSpPr/>
          <p:nvPr/>
        </p:nvSpPr>
        <p:spPr>
          <a:xfrm>
            <a:off x="6400800" y="3429000"/>
            <a:ext cx="25298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9829800" y="339242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Q3</a:t>
            </a:r>
            <a:endParaRPr lang="en-US" sz="750" dirty="0"/>
          </a:p>
        </p:txBody>
      </p:sp>
      <p:sp>
        <p:nvSpPr>
          <p:cNvPr id="19" name="Shape 15"/>
          <p:cNvSpPr/>
          <p:nvPr/>
        </p:nvSpPr>
        <p:spPr>
          <a:xfrm>
            <a:off x="6400800" y="3794760"/>
            <a:ext cx="32156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9829800" y="375818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Q4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594360" y="4663440"/>
            <a:ext cx="10789920" cy="1143000"/>
          </a:xfrm>
          <a:prstGeom prst="roundRect">
            <a:avLst>
              <a:gd name="adj" fmla="val 3200"/>
            </a:avLst>
          </a:prstGeom>
          <a:solidFill>
            <a:srgbClr val="FFF8E8"/>
          </a:solidFill>
          <a:ln w="12700">
            <a:solidFill>
              <a:srgbClr val="E8DAB6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868680" y="4864608"/>
            <a:ext cx="1645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D894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Narrative prompt</a:t>
            </a:r>
            <a:endParaRPr lang="en-US" sz="900" dirty="0"/>
          </a:p>
        </p:txBody>
      </p:sp>
      <p:sp>
        <p:nvSpPr>
          <p:cNvPr id="23" name="Text 19"/>
          <p:cNvSpPr/>
          <p:nvPr/>
        </p:nvSpPr>
        <p:spPr>
          <a:xfrm>
            <a:off x="868680" y="5212080"/>
            <a:ext cx="9784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 this box with the customer-specific implication for shopper trends. Keep it commercial, concise and linked to the buyer decision.</a:t>
            </a:r>
            <a:endParaRPr lang="en-US" sz="11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APT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Category Opportunity Deck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Meridian Home x Crownfield Superstores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Text 4"/>
          <p:cNvSpPr/>
          <p:nvPr/>
        </p:nvSpPr>
        <p:spPr>
          <a:xfrm>
            <a:off x="502920" y="804672"/>
            <a:ext cx="6949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White space opportunities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530352" y="1371600"/>
            <a:ext cx="72237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Crownfield Superstores example view using editable commercial data and assumptions.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58368" y="1874520"/>
            <a:ext cx="4434840" cy="11430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Headline: Meridian Home has a credible growth story for Crownfield Superstores, with practical actions buyers can assess quickly.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Evidence: example sales, units, distribution and support assumptions are included for editing.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Decision: agree the priority action, owner and next step for this workstream.</a:t>
            </a:r>
            <a:endParaRPr lang="en-US" sz="1050" dirty="0"/>
          </a:p>
        </p:txBody>
      </p:sp>
      <p:graphicFrame>
        <p:nvGraphicFramePr>
          <p:cNvPr id="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956816"/>
          <a:ext cx="5120640" cy="2331720"/>
        </p:xfrm>
        <a:graphic>
          <a:graphicData uri="http://schemas.openxmlformats.org/drawingml/2006/table">
            <a:tbl>
              <a:tblPr/>
              <a:tblGrid>
                <a:gridCol w="1280160"/>
                <a:gridCol w="1280160"/>
                <a:gridCol w="1280160"/>
                <a:gridCol w="1280160"/>
              </a:tblGrid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Metric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Current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Target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Status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Net sales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£4.4m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£4.9m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Ahead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Units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2.9m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3.3m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On track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Gross margin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32.1%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33.8%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Watch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Distribution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77%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85%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Opportunity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6080760" y="1956816"/>
            <a:ext cx="5303520" cy="2331720"/>
          </a:xfrm>
          <a:prstGeom prst="rect">
            <a:avLst/>
          </a:prstGeom>
          <a:solidFill>
            <a:srgbClr val="F8FBFA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6355080" y="2212848"/>
            <a:ext cx="2560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Editable chart area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0" y="2697480"/>
            <a:ext cx="12344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9829800" y="266090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Q1</a:t>
            </a:r>
            <a:endParaRPr lang="en-US" sz="750" dirty="0"/>
          </a:p>
        </p:txBody>
      </p:sp>
      <p:sp>
        <p:nvSpPr>
          <p:cNvPr id="15" name="Shape 11"/>
          <p:cNvSpPr/>
          <p:nvPr/>
        </p:nvSpPr>
        <p:spPr>
          <a:xfrm>
            <a:off x="6400800" y="3063240"/>
            <a:ext cx="19202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9829800" y="302666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Q2</a:t>
            </a:r>
            <a:endParaRPr lang="en-US" sz="750" dirty="0"/>
          </a:p>
        </p:txBody>
      </p:sp>
      <p:sp>
        <p:nvSpPr>
          <p:cNvPr id="17" name="Shape 13"/>
          <p:cNvSpPr/>
          <p:nvPr/>
        </p:nvSpPr>
        <p:spPr>
          <a:xfrm>
            <a:off x="6400800" y="3429000"/>
            <a:ext cx="26060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9829800" y="339242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Q3</a:t>
            </a:r>
            <a:endParaRPr lang="en-US" sz="750" dirty="0"/>
          </a:p>
        </p:txBody>
      </p:sp>
      <p:sp>
        <p:nvSpPr>
          <p:cNvPr id="19" name="Shape 15"/>
          <p:cNvSpPr/>
          <p:nvPr/>
        </p:nvSpPr>
        <p:spPr>
          <a:xfrm>
            <a:off x="6400800" y="3794760"/>
            <a:ext cx="32918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9829800" y="375818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Q4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594360" y="4663440"/>
            <a:ext cx="10789920" cy="1143000"/>
          </a:xfrm>
          <a:prstGeom prst="roundRect">
            <a:avLst>
              <a:gd name="adj" fmla="val 3200"/>
            </a:avLst>
          </a:prstGeom>
          <a:solidFill>
            <a:srgbClr val="EAF6F3"/>
          </a:solidFill>
          <a:ln w="12700">
            <a:solidFill>
              <a:srgbClr val="CDE4DF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868680" y="4864608"/>
            <a:ext cx="1645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Narrative prompt</a:t>
            </a:r>
            <a:endParaRPr lang="en-US" sz="900" dirty="0"/>
          </a:p>
        </p:txBody>
      </p:sp>
      <p:sp>
        <p:nvSpPr>
          <p:cNvPr id="23" name="Text 19"/>
          <p:cNvSpPr/>
          <p:nvPr/>
        </p:nvSpPr>
        <p:spPr>
          <a:xfrm>
            <a:off x="868680" y="5212080"/>
            <a:ext cx="9784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 this box with the customer-specific implication for white space opportunities. Keep it commercial, concise and linked to the buyer decision.</a:t>
            </a:r>
            <a:endParaRPr lang="en-US" sz="11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APT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Category Opportunity Deck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Meridian Home x Crownfield Superstores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Text 4"/>
          <p:cNvSpPr/>
          <p:nvPr/>
        </p:nvSpPr>
        <p:spPr>
          <a:xfrm>
            <a:off x="502920" y="804672"/>
            <a:ext cx="6949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Competitor benchmarking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530352" y="1371600"/>
            <a:ext cx="72237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Crownfield Superstores example view using editable commercial data and assumptions.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58368" y="1874520"/>
            <a:ext cx="4434840" cy="11430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Headline: Meridian Home has a credible growth story for Crownfield Superstores, with practical actions buyers can assess quickly.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Evidence: example sales, units, distribution and support assumptions are included for editing.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Decision: agree the priority action, owner and next step for this workstream.</a:t>
            </a:r>
            <a:endParaRPr lang="en-US" sz="1050" dirty="0"/>
          </a:p>
        </p:txBody>
      </p:sp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956816"/>
          <a:ext cx="5120640" cy="2331720"/>
        </p:xfrm>
        <a:graphic>
          <a:graphicData uri="http://schemas.openxmlformats.org/drawingml/2006/table">
            <a:tbl>
              <a:tblPr/>
              <a:tblGrid>
                <a:gridCol w="1280160"/>
                <a:gridCol w="1280160"/>
                <a:gridCol w="1280160"/>
                <a:gridCol w="1280160"/>
              </a:tblGrid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Metric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Current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Target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Status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Net sales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£4.5m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£5.0m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Ahead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Units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3.0m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3.3m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On track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Gross margin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32.3%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34.0%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Watch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Distribution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78%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86%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Opportunity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6080760" y="1956816"/>
            <a:ext cx="5303520" cy="2331720"/>
          </a:xfrm>
          <a:prstGeom prst="rect">
            <a:avLst/>
          </a:prstGeom>
          <a:solidFill>
            <a:srgbClr val="F8FBFA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6355080" y="2212848"/>
            <a:ext cx="2560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Editable chart area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0" y="2697480"/>
            <a:ext cx="13106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9829800" y="266090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Q1</a:t>
            </a:r>
            <a:endParaRPr lang="en-US" sz="750" dirty="0"/>
          </a:p>
        </p:txBody>
      </p:sp>
      <p:sp>
        <p:nvSpPr>
          <p:cNvPr id="15" name="Shape 11"/>
          <p:cNvSpPr/>
          <p:nvPr/>
        </p:nvSpPr>
        <p:spPr>
          <a:xfrm>
            <a:off x="6400800" y="3063240"/>
            <a:ext cx="19964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9829800" y="302666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Q2</a:t>
            </a:r>
            <a:endParaRPr lang="en-US" sz="750" dirty="0"/>
          </a:p>
        </p:txBody>
      </p:sp>
      <p:sp>
        <p:nvSpPr>
          <p:cNvPr id="17" name="Shape 13"/>
          <p:cNvSpPr/>
          <p:nvPr/>
        </p:nvSpPr>
        <p:spPr>
          <a:xfrm>
            <a:off x="6400800" y="3429000"/>
            <a:ext cx="26822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9829800" y="339242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Q3</a:t>
            </a:r>
            <a:endParaRPr lang="en-US" sz="750" dirty="0"/>
          </a:p>
        </p:txBody>
      </p:sp>
      <p:sp>
        <p:nvSpPr>
          <p:cNvPr id="19" name="Shape 15"/>
          <p:cNvSpPr/>
          <p:nvPr/>
        </p:nvSpPr>
        <p:spPr>
          <a:xfrm>
            <a:off x="6400800" y="3794760"/>
            <a:ext cx="33680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9829800" y="375818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Q4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594360" y="4663440"/>
            <a:ext cx="10789920" cy="1143000"/>
          </a:xfrm>
          <a:prstGeom prst="roundRect">
            <a:avLst>
              <a:gd name="adj" fmla="val 3200"/>
            </a:avLst>
          </a:prstGeom>
          <a:solidFill>
            <a:srgbClr val="FFF8E8"/>
          </a:solidFill>
          <a:ln w="12700">
            <a:solidFill>
              <a:srgbClr val="E8DAB6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868680" y="4864608"/>
            <a:ext cx="1645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D894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Narrative prompt</a:t>
            </a:r>
            <a:endParaRPr lang="en-US" sz="900" dirty="0"/>
          </a:p>
        </p:txBody>
      </p:sp>
      <p:sp>
        <p:nvSpPr>
          <p:cNvPr id="23" name="Text 19"/>
          <p:cNvSpPr/>
          <p:nvPr/>
        </p:nvSpPr>
        <p:spPr>
          <a:xfrm>
            <a:off x="868680" y="5212080"/>
            <a:ext cx="9784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 this box with the customer-specific implication for competitor benchmarking. Keep it commercial, concise and linked to the buyer decision.</a:t>
            </a:r>
            <a:endParaRPr lang="en-US" sz="11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APT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Category Opportunity Deck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Meridian Home x Crownfield Superstores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Text 4"/>
          <p:cNvSpPr/>
          <p:nvPr/>
        </p:nvSpPr>
        <p:spPr>
          <a:xfrm>
            <a:off x="502920" y="804672"/>
            <a:ext cx="6949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Opportunity sizing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530352" y="1371600"/>
            <a:ext cx="72237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Crownfield Superstores example view using editable commercial data and assumptions.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58368" y="1874520"/>
            <a:ext cx="4434840" cy="11430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Headline: Meridian Home has a credible growth story for Crownfield Superstores, with practical actions buyers can assess quickly.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Evidence: example sales, units, distribution and support assumptions are included for editing.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Decision: agree the priority action, owner and next step for this workstream.</a:t>
            </a:r>
            <a:endParaRPr lang="en-US" sz="1050" dirty="0"/>
          </a:p>
        </p:txBody>
      </p:sp>
      <p:graphicFrame>
        <p:nvGraphicFramePr>
          <p:cNvPr id="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956816"/>
          <a:ext cx="5120640" cy="2331720"/>
        </p:xfrm>
        <a:graphic>
          <a:graphicData uri="http://schemas.openxmlformats.org/drawingml/2006/table">
            <a:tbl>
              <a:tblPr/>
              <a:tblGrid>
                <a:gridCol w="1280160"/>
                <a:gridCol w="1280160"/>
                <a:gridCol w="1280160"/>
                <a:gridCol w="1280160"/>
              </a:tblGrid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Metric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Current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Target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Status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Net sales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£4.6m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£5.2m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Ahead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Units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3.0m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3.4m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On track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Gross margin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32.5%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34.3%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Watch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Distribution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79%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87%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Opportunity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6080760" y="1956816"/>
            <a:ext cx="5303520" cy="2331720"/>
          </a:xfrm>
          <a:prstGeom prst="rect">
            <a:avLst/>
          </a:prstGeom>
          <a:solidFill>
            <a:srgbClr val="F8FBFA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6355080" y="2212848"/>
            <a:ext cx="2560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Editable chart area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0" y="2697480"/>
            <a:ext cx="13868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9829800" y="266090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Q1</a:t>
            </a:r>
            <a:endParaRPr lang="en-US" sz="750" dirty="0"/>
          </a:p>
        </p:txBody>
      </p:sp>
      <p:sp>
        <p:nvSpPr>
          <p:cNvPr id="15" name="Shape 11"/>
          <p:cNvSpPr/>
          <p:nvPr/>
        </p:nvSpPr>
        <p:spPr>
          <a:xfrm>
            <a:off x="6400800" y="3063240"/>
            <a:ext cx="20726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9829800" y="302666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Q2</a:t>
            </a:r>
            <a:endParaRPr lang="en-US" sz="750" dirty="0"/>
          </a:p>
        </p:txBody>
      </p:sp>
      <p:sp>
        <p:nvSpPr>
          <p:cNvPr id="17" name="Shape 13"/>
          <p:cNvSpPr/>
          <p:nvPr/>
        </p:nvSpPr>
        <p:spPr>
          <a:xfrm>
            <a:off x="6400800" y="3429000"/>
            <a:ext cx="27584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9829800" y="339242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Q3</a:t>
            </a:r>
            <a:endParaRPr lang="en-US" sz="750" dirty="0"/>
          </a:p>
        </p:txBody>
      </p:sp>
      <p:sp>
        <p:nvSpPr>
          <p:cNvPr id="19" name="Shape 15"/>
          <p:cNvSpPr/>
          <p:nvPr/>
        </p:nvSpPr>
        <p:spPr>
          <a:xfrm>
            <a:off x="6400800" y="3794760"/>
            <a:ext cx="34442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9829800" y="375818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Q4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594360" y="4663440"/>
            <a:ext cx="10789920" cy="1143000"/>
          </a:xfrm>
          <a:prstGeom prst="roundRect">
            <a:avLst>
              <a:gd name="adj" fmla="val 3200"/>
            </a:avLst>
          </a:prstGeom>
          <a:solidFill>
            <a:srgbClr val="EAF6F3"/>
          </a:solidFill>
          <a:ln w="12700">
            <a:solidFill>
              <a:srgbClr val="CDE4DF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868680" y="4864608"/>
            <a:ext cx="1645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Narrative prompt</a:t>
            </a:r>
            <a:endParaRPr lang="en-US" sz="900" dirty="0"/>
          </a:p>
        </p:txBody>
      </p:sp>
      <p:sp>
        <p:nvSpPr>
          <p:cNvPr id="23" name="Text 19"/>
          <p:cNvSpPr/>
          <p:nvPr/>
        </p:nvSpPr>
        <p:spPr>
          <a:xfrm>
            <a:off x="868680" y="5212080"/>
            <a:ext cx="9784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 this box with the customer-specific implication for opportunity sizing. Keep it commercial, concise and linked to the buyer decision.</a:t>
            </a:r>
            <a:endParaRPr lang="en-US" sz="11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APT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Category Opportunity Deck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Meridian Home x Crownfield Superstores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Text 4"/>
          <p:cNvSpPr/>
          <p:nvPr/>
        </p:nvSpPr>
        <p:spPr>
          <a:xfrm>
            <a:off x="502920" y="804672"/>
            <a:ext cx="6949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Recommendations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530352" y="1371600"/>
            <a:ext cx="72237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Crownfield Superstores example view using editable commercial data and assumptions.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58368" y="1874520"/>
            <a:ext cx="4434840" cy="11430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Headline: Meridian Home has a credible growth story for Crownfield Superstores, with practical actions buyers can assess quickly.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Evidence: example sales, units, distribution and support assumptions are included for editing.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Decision: agree the priority action, owner and next step for this workstream.</a:t>
            </a:r>
            <a:endParaRPr lang="en-US" sz="1050" dirty="0"/>
          </a:p>
        </p:txBody>
      </p:sp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956816"/>
          <a:ext cx="5120640" cy="2331720"/>
        </p:xfrm>
        <a:graphic>
          <a:graphicData uri="http://schemas.openxmlformats.org/drawingml/2006/table">
            <a:tbl>
              <a:tblPr/>
              <a:tblGrid>
                <a:gridCol w="1280160"/>
                <a:gridCol w="1280160"/>
                <a:gridCol w="1280160"/>
                <a:gridCol w="1280160"/>
              </a:tblGrid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Metric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Current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Target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Status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Net sales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£4.7m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£5.3m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Ahead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Units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3.1m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3.4m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On track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Gross margin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32.7%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34.5%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Watch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Distribution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80%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88%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Opportunity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6080760" y="1956816"/>
            <a:ext cx="5303520" cy="2331720"/>
          </a:xfrm>
          <a:prstGeom prst="rect">
            <a:avLst/>
          </a:prstGeom>
          <a:solidFill>
            <a:srgbClr val="F8FBFA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6355080" y="2212848"/>
            <a:ext cx="2560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Editable chart area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0" y="2697480"/>
            <a:ext cx="14630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9829800" y="266090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Q1</a:t>
            </a:r>
            <a:endParaRPr lang="en-US" sz="750" dirty="0"/>
          </a:p>
        </p:txBody>
      </p:sp>
      <p:sp>
        <p:nvSpPr>
          <p:cNvPr id="15" name="Shape 11"/>
          <p:cNvSpPr/>
          <p:nvPr/>
        </p:nvSpPr>
        <p:spPr>
          <a:xfrm>
            <a:off x="6400800" y="3063240"/>
            <a:ext cx="21488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9829800" y="302666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Q2</a:t>
            </a:r>
            <a:endParaRPr lang="en-US" sz="750" dirty="0"/>
          </a:p>
        </p:txBody>
      </p:sp>
      <p:sp>
        <p:nvSpPr>
          <p:cNvPr id="17" name="Shape 13"/>
          <p:cNvSpPr/>
          <p:nvPr/>
        </p:nvSpPr>
        <p:spPr>
          <a:xfrm>
            <a:off x="6400800" y="3429000"/>
            <a:ext cx="28346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9829800" y="339242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Q3</a:t>
            </a:r>
            <a:endParaRPr lang="en-US" sz="750" dirty="0"/>
          </a:p>
        </p:txBody>
      </p:sp>
      <p:sp>
        <p:nvSpPr>
          <p:cNvPr id="19" name="Shape 15"/>
          <p:cNvSpPr/>
          <p:nvPr/>
        </p:nvSpPr>
        <p:spPr>
          <a:xfrm>
            <a:off x="6400800" y="3794760"/>
            <a:ext cx="35204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9829800" y="375818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Q4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594360" y="4663440"/>
            <a:ext cx="10789920" cy="1143000"/>
          </a:xfrm>
          <a:prstGeom prst="roundRect">
            <a:avLst>
              <a:gd name="adj" fmla="val 3200"/>
            </a:avLst>
          </a:prstGeom>
          <a:solidFill>
            <a:srgbClr val="FFF8E8"/>
          </a:solidFill>
          <a:ln w="12700">
            <a:solidFill>
              <a:srgbClr val="E8DAB6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868680" y="4864608"/>
            <a:ext cx="1645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D894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Narrative prompt</a:t>
            </a:r>
            <a:endParaRPr lang="en-US" sz="900" dirty="0"/>
          </a:p>
        </p:txBody>
      </p:sp>
      <p:sp>
        <p:nvSpPr>
          <p:cNvPr id="23" name="Text 19"/>
          <p:cNvSpPr/>
          <p:nvPr/>
        </p:nvSpPr>
        <p:spPr>
          <a:xfrm>
            <a:off x="868680" y="5212080"/>
            <a:ext cx="9784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 this box with the customer-specific implication for recommendations. Keep it commercial, concise and linked to the buyer decision.</a:t>
            </a:r>
            <a:endParaRPr lang="en-US" sz="11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ptos Display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7</Slides>
  <Notes>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7</vt:i4>
      </vt:variant>
    </vt:vector>
  </HeadingPairs>
  <TitlesOfParts>
    <vt:vector size="1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</vt:vector>
  </TitlesOfParts>
  <Company>APT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Category Opportunity Deck</dc:title>
  <dc:subject>Category Opportunity Deck editable template</dc:subject>
  <dc:creator>APT Account Planning Tools</dc:creator>
  <cp:lastModifiedBy>APT Account Planning Tools</cp:lastModifiedBy>
  <cp:revision>1</cp:revision>
  <dcterms:created xsi:type="dcterms:W3CDTF">2026-06-15T18:34:11Z</dcterms:created>
  <dcterms:modified xsi:type="dcterms:W3CDTF">2026-06-15T18:34:11Z</dcterms:modified>
</cp:coreProperties>
</file>