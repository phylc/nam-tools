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Launch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Health x Northbank Pharmacy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0" y="109728"/>
            <a:ext cx="12191695" cy="6748272"/>
          </a:xfrm>
          <a:prstGeom prst="rect">
            <a:avLst/>
          </a:prstGeom>
          <a:solidFill>
            <a:srgbClr val="F7FAF9"/>
          </a:solidFill>
          <a:ln w="12700">
            <a:solidFill>
              <a:srgbClr val="F7FAF9"/>
            </a:solidFill>
            <a:prstDash val="solid"/>
          </a:ln>
        </p:spPr>
      </p:sp>
      <p:pic>
        <p:nvPicPr>
          <p:cNvPr id="8" name="Image 1" descr="APT log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30352"/>
            <a:ext cx="1353312" cy="41148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94360" y="1234440"/>
            <a:ext cx="4206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Launch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66928" y="1627632"/>
            <a:ext cx="5806440" cy="104241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3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New Product Launch Sell-In</a:t>
            </a:r>
            <a:endParaRPr lang="en-US" sz="3300" dirty="0"/>
          </a:p>
        </p:txBody>
      </p:sp>
      <p:sp>
        <p:nvSpPr>
          <p:cNvPr id="11" name="Text 7"/>
          <p:cNvSpPr/>
          <p:nvPr/>
        </p:nvSpPr>
        <p:spPr>
          <a:xfrm>
            <a:off x="603504" y="2816352"/>
            <a:ext cx="53035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Northbank Pharmacy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with editable fictional data for account and commercial planning.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98080" y="1005840"/>
            <a:ext cx="3611880" cy="4160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818120" y="1298448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Editable deck starter</a:t>
            </a:r>
            <a:endParaRPr lang="en-US" sz="1900" dirty="0"/>
          </a:p>
        </p:txBody>
      </p:sp>
      <p:sp>
        <p:nvSpPr>
          <p:cNvPr id="14" name="Text 10"/>
          <p:cNvSpPr/>
          <p:nvPr/>
        </p:nvSpPr>
        <p:spPr>
          <a:xfrm>
            <a:off x="7818120" y="1783080"/>
            <a:ext cx="2834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these slides as a practical customer-facing first draft. Replace the example data, narrative and actions with your own account plan.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54864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7665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£1.2m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67665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year-one RSV</a:t>
            </a:r>
            <a:endParaRPr lang="en-US" sz="750" dirty="0"/>
          </a:p>
        </p:txBody>
      </p:sp>
      <p:sp>
        <p:nvSpPr>
          <p:cNvPr id="18" name="Shape 14"/>
          <p:cNvSpPr/>
          <p:nvPr/>
        </p:nvSpPr>
        <p:spPr>
          <a:xfrm>
            <a:off x="251460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264261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894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58%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64261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purchase intent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4480560" y="5120640"/>
            <a:ext cx="1783080" cy="713232"/>
          </a:xfrm>
          <a:prstGeom prst="roundRect">
            <a:avLst>
              <a:gd name="adj" fmla="val 7692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4608576" y="5257800"/>
            <a:ext cx="65836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7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18-week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608576" y="5522976"/>
            <a:ext cx="1417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plan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Launch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Health x Northbank Pharmacy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overview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Northbank Pharmacy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Luma Health has a credible growth story for Northbank Pharmacy,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082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767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453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139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launch overview.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Launch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Health x Northbank Pharmacy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Consumer insight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Northbank Pharmacy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Luma Health has a credible growth story for Northbank Pharmacy,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84%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158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844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529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15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consumer insight.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Launch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Health x Northbank Pharmacy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opportunity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Northbank Pharmacy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Luma Health has a credible growth story for Northbank Pharmacy,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234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20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06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291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market opportunity.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Launch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Health x Northbank Pharmacy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proposition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Northbank Pharmacy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Luma Health has a credible growth story for Northbank Pharmacy,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10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1996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682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368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product proposition.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Launch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Health x Northbank Pharmacy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Forecast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Northbank Pharmacy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Luma Health has a credible growth story for Northbank Pharmacy,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£4.6m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3.0m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34.3%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386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072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758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444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forecast.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Launch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Health x Northbank Pharmacy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Activation plan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Northbank Pharmacy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Luma Health has a credible growth story for Northbank Pharmacy,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£4.7m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£5.3m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32.7%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34.5%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463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148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8346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204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activation plan.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Launch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Health x Northbank Pharmacy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Launch timeline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Northbank Pharmacy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Luma Health has a credible growth story for Northbank Pharmacy,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£4.8m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£5.4m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3.1m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32.9%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34.8%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89%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5392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2250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108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5966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EAF6F3"/>
          </a:solidFill>
          <a:ln w="12700">
            <a:solidFill>
              <a:srgbClr val="CDE4DF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launch timeline.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pic>
        <p:nvPicPr>
          <p:cNvPr id="3" name="Image 0" descr="APT log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256032"/>
            <a:ext cx="1143000" cy="34747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256032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Product Launch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11480" y="6473952"/>
            <a:ext cx="5486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Luma Health x Northbank Pharmacy</a:t>
            </a:r>
            <a:endParaRPr lang="en-US" sz="750" dirty="0"/>
          </a:p>
        </p:txBody>
      </p:sp>
      <p:sp>
        <p:nvSpPr>
          <p:cNvPr id="6" name="Text 3"/>
          <p:cNvSpPr/>
          <p:nvPr/>
        </p:nvSpPr>
        <p:spPr>
          <a:xfrm>
            <a:off x="8778240" y="6473952"/>
            <a:ext cx="2971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Fictional editable example data</a:t>
            </a:r>
            <a:endParaRPr lang="en-US" sz="750" dirty="0"/>
          </a:p>
        </p:txBody>
      </p:sp>
      <p:sp>
        <p:nvSpPr>
          <p:cNvPr id="7" name="Text 4"/>
          <p:cNvSpPr/>
          <p:nvPr/>
        </p:nvSpPr>
        <p:spPr>
          <a:xfrm>
            <a:off x="502920" y="804672"/>
            <a:ext cx="6949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0302D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Commercial ask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30352" y="1371600"/>
            <a:ext cx="7223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Northbank Pharmacy example view using editable commercial data and assumptions.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4434840" cy="11430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Headline: Luma Health has a credible growth story for Northbank Pharmacy, with practical actions buyers can assess quickly.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Evidence: example sales, units, distribution and support assumptions are included for editing.</a:t>
            </a:r>
            <a:endParaRPr lang="en-US" sz="1050" dirty="0"/>
          </a:p>
          <a:p>
            <a:r>
              <a:rPr lang="en-US" sz="105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Decision: agree the priority action, owner and next step for this workstream.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956816"/>
          <a:ext cx="5120640" cy="2331720"/>
        </p:xfrm>
        <a:graphic>
          <a:graphicData uri="http://schemas.openxmlformats.org/drawingml/2006/table">
            <a:tbl>
              <a:tblPr/>
              <a:tblGrid>
                <a:gridCol w="1280160"/>
                <a:gridCol w="1280160"/>
                <a:gridCol w="1280160"/>
                <a:gridCol w="1280160"/>
              </a:tblGrid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Current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Target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b="1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Status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Net sales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£4.9m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Ahead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Units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3.2m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3.5m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 track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Gross margin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33.1%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35.0%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Watch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663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Distribution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90%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30" dirty="0">
                          <a:solidFill>
                            <a:srgbClr val="20302D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Opportunity</a:t>
                      </a:r>
                      <a:endParaRPr lang="en-US" sz="93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73152" marR="73152" marT="73152" marB="73152" anchor="mid">
                    <a:lnL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D8E2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080760" y="1956816"/>
            <a:ext cx="5303520" cy="2331720"/>
          </a:xfrm>
          <a:prstGeom prst="rect">
            <a:avLst/>
          </a:prstGeom>
          <a:solidFill>
            <a:srgbClr val="F8FBFA"/>
          </a:solidFill>
          <a:ln w="12700">
            <a:solidFill>
              <a:srgbClr val="D8E2D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5508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7D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Editable chart area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00800" y="2697480"/>
            <a:ext cx="16154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9829800" y="266090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Q1</a:t>
            </a:r>
            <a:endParaRPr lang="en-US" sz="750" dirty="0"/>
          </a:p>
        </p:txBody>
      </p:sp>
      <p:sp>
        <p:nvSpPr>
          <p:cNvPr id="15" name="Shape 11"/>
          <p:cNvSpPr/>
          <p:nvPr/>
        </p:nvSpPr>
        <p:spPr>
          <a:xfrm>
            <a:off x="6400800" y="3063240"/>
            <a:ext cx="23012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9829800" y="302666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Q2</a:t>
            </a:r>
            <a:endParaRPr lang="en-US" sz="750" dirty="0"/>
          </a:p>
        </p:txBody>
      </p:sp>
      <p:sp>
        <p:nvSpPr>
          <p:cNvPr id="17" name="Shape 13"/>
          <p:cNvSpPr/>
          <p:nvPr/>
        </p:nvSpPr>
        <p:spPr>
          <a:xfrm>
            <a:off x="6400800" y="3429000"/>
            <a:ext cx="2987040" cy="164592"/>
          </a:xfrm>
          <a:prstGeom prst="rect">
            <a:avLst/>
          </a:prstGeom>
          <a:solidFill>
            <a:srgbClr val="2E7D73"/>
          </a:solidFill>
          <a:ln w="12700">
            <a:solidFill>
              <a:srgbClr val="2E7D73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829800" y="339242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Q3</a:t>
            </a:r>
            <a:endParaRPr lang="en-US" sz="750" dirty="0"/>
          </a:p>
        </p:txBody>
      </p:sp>
      <p:sp>
        <p:nvSpPr>
          <p:cNvPr id="19" name="Shape 15"/>
          <p:cNvSpPr/>
          <p:nvPr/>
        </p:nvSpPr>
        <p:spPr>
          <a:xfrm>
            <a:off x="6400800" y="3794760"/>
            <a:ext cx="3672840" cy="164592"/>
          </a:xfrm>
          <a:prstGeom prst="rect">
            <a:avLst/>
          </a:prstGeom>
          <a:solidFill>
            <a:srgbClr val="D8942A"/>
          </a:solidFill>
          <a:ln w="12700">
            <a:solidFill>
              <a:srgbClr val="D8942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9829800" y="3758184"/>
            <a:ext cx="365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D6D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Q4</a:t>
            </a:r>
            <a:endParaRPr lang="en-US" sz="750" dirty="0"/>
          </a:p>
        </p:txBody>
      </p:sp>
      <p:sp>
        <p:nvSpPr>
          <p:cNvPr id="21" name="Shape 17"/>
          <p:cNvSpPr/>
          <p:nvPr/>
        </p:nvSpPr>
        <p:spPr>
          <a:xfrm>
            <a:off x="594360" y="4663440"/>
            <a:ext cx="10789920" cy="1143000"/>
          </a:xfrm>
          <a:prstGeom prst="roundRect">
            <a:avLst>
              <a:gd name="adj" fmla="val 3200"/>
            </a:avLst>
          </a:prstGeom>
          <a:solidFill>
            <a:srgbClr val="FFF8E8"/>
          </a:solidFill>
          <a:ln w="12700">
            <a:solidFill>
              <a:srgbClr val="E8DAB6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68680" y="48646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8942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 prompt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868680" y="5212080"/>
            <a:ext cx="9784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030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 this box with the customer-specific implication for commercial ask. Keep it commercial, concise and linked to the buyer decision.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APT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Product Launch Sell-In</dc:title>
  <dc:subject>New Product Launch editable template</dc:subject>
  <dc:creator>APT Account Planning Tools</dc:creator>
  <cp:lastModifiedBy>APT Account Planning Tools</cp:lastModifiedBy>
  <cp:revision>1</cp:revision>
  <dcterms:created xsi:type="dcterms:W3CDTF">2026-08-10T09:34:09Z</dcterms:created>
  <dcterms:modified xsi:type="dcterms:W3CDTF">2026-08-10T09:34:09Z</dcterms:modified>
</cp:coreProperties>
</file>